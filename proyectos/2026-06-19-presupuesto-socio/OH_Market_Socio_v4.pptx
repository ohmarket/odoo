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051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kern="0" spc="200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CONFIDENCIAL — JUNIO 2026</a:t>
            </a:r>
            <a:endParaRPr lang="es-CL" sz="1100" noProof="0" dirty="0"/>
          </a:p>
        </p:txBody>
      </p:sp>
      <p:pic>
        <p:nvPicPr>
          <p:cNvPr id="4" name="Image 0" descr="/home/claude/oh_logo_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640080"/>
            <a:ext cx="2121408" cy="2121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6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620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s-CL" sz="62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2697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100" noProof="0" dirty="0">
                <a:solidFill>
                  <a:srgbClr val="CB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 de inversión — socio estratégico</a:t>
            </a:r>
            <a:endParaRPr lang="es-CL" sz="21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7680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6000"/>
              </a:lnSpc>
              <a:buNone/>
            </a:pPr>
            <a:r>
              <a:rPr lang="es-CL" sz="13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135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13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no perdió dinero por falta de ventas. </a:t>
            </a:r>
            <a:r>
              <a:rPr lang="es-CL" sz="1350" noProof="0" dirty="0">
                <a:solidFill>
                  <a:srgbClr val="CB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perdió porque la estructura y la complejidad crecieron más rápido que la capacidad de gestión. La reestructuración 2025–2026 redujo esa brecha, recuperó EBITDA positivo y dejó a la compañía preparada para consolidar capital de trabajo, recuperar ventas operativas y crecer con control. Buscamos un socio estratégico para esa etapa.</a:t>
            </a:r>
            <a:endParaRPr lang="es-CL" sz="1350" noProof="0" dirty="0"/>
          </a:p>
        </p:txBody>
      </p:sp>
      <p:sp>
        <p:nvSpPr>
          <p:cNvPr id="8" name="Shape 5"/>
          <p:cNvSpPr/>
          <p:nvPr/>
        </p:nvSpPr>
        <p:spPr>
          <a:xfrm>
            <a:off x="548640" y="5029200"/>
            <a:ext cx="7315200" cy="0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6"/>
          <p:cNvSpPr/>
          <p:nvPr/>
        </p:nvSpPr>
        <p:spPr>
          <a:xfrm>
            <a:off x="548640" y="5212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s-CL" sz="1250" noProof="0" dirty="0">
                <a:solidFill>
                  <a:srgbClr val="CB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OH! </a:t>
            </a:r>
            <a:r>
              <a:rPr lang="es-CL" sz="1250" noProof="0" dirty="0" err="1">
                <a:solidFill>
                  <a:srgbClr val="CB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1250" noProof="0" dirty="0">
                <a:solidFill>
                  <a:srgbClr val="CB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Limitada  ·  RUT 76.765.865-6</a:t>
            </a:r>
            <a:endParaRPr lang="es-CL" sz="125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CL" sz="1250" noProof="0" dirty="0">
                <a:solidFill>
                  <a:srgbClr val="CB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sucursales — Región de Los Ríos y La Araucanía</a:t>
            </a:r>
            <a:endParaRPr lang="es-CL" sz="125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CL" sz="1250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para conversación con socio inversionista</a:t>
            </a:r>
            <a:endParaRPr lang="es-CL" sz="125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 en una página</a:t>
            </a:r>
            <a:endParaRPr lang="es-CL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 para evaluación inicial</a:t>
            </a:r>
            <a:endParaRPr lang="es-CL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822960" y="1572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NEGOCIO</a:t>
            </a:r>
            <a:endParaRPr lang="es-CL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</a:t>
            </a:r>
            <a:endParaRPr lang="es-CL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s-CL" sz="11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de tiendas de conveniencia y bebidas, sur de Chile — 8 años, marca consolidada</a:t>
            </a:r>
            <a:endParaRPr lang="es-CL" sz="1150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29992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s-CL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32735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s-CL" sz="11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sucursales · 85 colaboradores · ~$5.200M Ventas Netas/Año (pro-forma ex-Lautaro)</a:t>
            </a:r>
            <a:endParaRPr lang="es-CL" sz="1150" noProof="0" dirty="0"/>
          </a:p>
        </p:txBody>
      </p:sp>
      <p:sp>
        <p:nvSpPr>
          <p:cNvPr id="10" name="Text 8"/>
          <p:cNvSpPr/>
          <p:nvPr/>
        </p:nvSpPr>
        <p:spPr>
          <a:xfrm>
            <a:off x="822960" y="40325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s-CL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43068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s-CL" sz="11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EBITDA positivo y T1 2026 con utilidad neta — </a:t>
            </a:r>
            <a:r>
              <a:rPr lang="es-CL" sz="1150" noProof="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</a:t>
            </a:r>
            <a:r>
              <a:rPr lang="es-CL" sz="11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ejecutado</a:t>
            </a:r>
            <a:endParaRPr lang="es-CL" sz="1150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50657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s-CL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534009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s-CL" sz="1150" noProof="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Sobreapalancada</a:t>
            </a:r>
            <a:r>
              <a:rPr lang="es-CL" sz="11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(deuda + proveedores + impuestos) y caja restringida que frena la reposición de stock rentable</a:t>
            </a:r>
            <a:endParaRPr lang="es-CL" sz="1150" noProof="0" dirty="0"/>
          </a:p>
        </p:txBody>
      </p:sp>
      <p:sp>
        <p:nvSpPr>
          <p:cNvPr id="14" name="Shape 12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name="adj" fmla="val 1132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/>
          <p:nvPr/>
        </p:nvSpPr>
        <p:spPr>
          <a:xfrm>
            <a:off x="6446520" y="1572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</a:t>
            </a:r>
            <a:endParaRPr lang="es-CL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644652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6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$400M</a:t>
            </a:r>
            <a:endParaRPr lang="es-CL" sz="3600" noProof="0" dirty="0"/>
          </a:p>
        </p:txBody>
      </p:sp>
      <p:sp>
        <p:nvSpPr>
          <p:cNvPr id="17" name="Text 15"/>
          <p:cNvSpPr/>
          <p:nvPr/>
        </p:nvSpPr>
        <p:spPr>
          <a:xfrm>
            <a:off x="6446520" y="26700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CB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el 40% — capital preferente</a:t>
            </a:r>
            <a:endParaRPr lang="es-CL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905256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6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$588M</a:t>
            </a:r>
            <a:endParaRPr lang="es-CL" sz="3600" noProof="0" dirty="0"/>
          </a:p>
        </p:txBody>
      </p:sp>
      <p:sp>
        <p:nvSpPr>
          <p:cNvPr id="19" name="Text 17"/>
          <p:cNvSpPr/>
          <p:nvPr/>
        </p:nvSpPr>
        <p:spPr>
          <a:xfrm>
            <a:off x="9052560" y="26700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CB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deuda neta tras el aporte (desde $1.021M)</a:t>
            </a:r>
            <a:endParaRPr lang="es-CL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6446520" y="3429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6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$33M</a:t>
            </a:r>
            <a:endParaRPr lang="es-CL" sz="3600" noProof="0" dirty="0"/>
          </a:p>
        </p:txBody>
      </p:sp>
      <p:sp>
        <p:nvSpPr>
          <p:cNvPr id="21" name="Text 19"/>
          <p:cNvSpPr/>
          <p:nvPr/>
        </p:nvSpPr>
        <p:spPr>
          <a:xfrm>
            <a:off x="6446520" y="40873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 err="1">
                <a:solidFill>
                  <a:srgbClr val="CB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condonación</a:t>
            </a:r>
            <a:r>
              <a:rPr lang="es-CL" sz="1100" noProof="0" dirty="0">
                <a:solidFill>
                  <a:srgbClr val="CB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TGR capturada en el prepago</a:t>
            </a:r>
            <a:endParaRPr lang="es-CL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9052560" y="3429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6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Preferente</a:t>
            </a:r>
            <a:endParaRPr lang="es-CL" sz="3600" noProof="0" dirty="0"/>
          </a:p>
        </p:txBody>
      </p:sp>
      <p:sp>
        <p:nvSpPr>
          <p:cNvPr id="23" name="Text 21"/>
          <p:cNvSpPr/>
          <p:nvPr/>
        </p:nvSpPr>
        <p:spPr>
          <a:xfrm>
            <a:off x="9052560" y="40873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 err="1">
                <a:solidFill>
                  <a:srgbClr val="CB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 vuelta</a:t>
            </a:r>
            <a:r>
              <a:rPr lang="es-CL" sz="1100" noProof="0" dirty="0">
                <a:solidFill>
                  <a:srgbClr val="CB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primero · retorno modelado (en validación)</a:t>
            </a:r>
            <a:endParaRPr lang="es-CL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6446520" y="4892040"/>
            <a:ext cx="4892040" cy="0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 23"/>
          <p:cNvSpPr/>
          <p:nvPr/>
        </p:nvSpPr>
        <p:spPr>
          <a:xfrm>
            <a:off x="6446520" y="50292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15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Uso del capital: </a:t>
            </a:r>
            <a:r>
              <a:rPr lang="es-CL" sz="1150" noProof="0" dirty="0">
                <a:solidFill>
                  <a:srgbClr val="CB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extinción de deuda tributaria (TGR), cierre de finiquitos y normalización de proveedores. Recapitalización de balance — no financia operación ni pérdidas.</a:t>
            </a:r>
            <a:endParaRPr lang="es-CL" sz="1150" noProof="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800" noProof="0" dirty="0" err="1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Confidencial  ·  Caso de inversión — Junio 2026</a:t>
            </a:r>
            <a:endParaRPr lang="es-CL" sz="800" noProof="0" dirty="0"/>
          </a:p>
        </p:txBody>
      </p:sp>
      <p:sp>
        <p:nvSpPr>
          <p:cNvPr id="27" name="Text 25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pasó entre 2024 y 2026?</a:t>
            </a:r>
            <a:endParaRPr lang="es-CL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conjunto de locales — el EBITDA se recuperó con menos venta</a:t>
            </a:r>
            <a:endParaRPr lang="es-CL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3246120" y="16276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s-CL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160520" y="16276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s-CL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5074920" y="16276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2026P</a:t>
            </a:r>
            <a:endParaRPr lang="es-CL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i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$MM</a:t>
            </a:r>
            <a:endParaRPr lang="es-CL" sz="950" noProof="0" dirty="0"/>
          </a:p>
        </p:txBody>
      </p:sp>
      <p:sp>
        <p:nvSpPr>
          <p:cNvPr id="9" name="Shape 7"/>
          <p:cNvSpPr/>
          <p:nvPr/>
        </p:nvSpPr>
        <p:spPr>
          <a:xfrm>
            <a:off x="822960" y="1938528"/>
            <a:ext cx="489204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822960" y="2075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(base gestión)</a:t>
            </a:r>
            <a:endParaRPr lang="es-CL" sz="1050" noProof="0" dirty="0"/>
          </a:p>
        </p:txBody>
      </p:sp>
      <p:sp>
        <p:nvSpPr>
          <p:cNvPr id="11" name="Text 9"/>
          <p:cNvSpPr/>
          <p:nvPr/>
        </p:nvSpPr>
        <p:spPr>
          <a:xfrm>
            <a:off x="3246120" y="207568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$7.650</a:t>
            </a:r>
            <a:endParaRPr lang="es-CL" sz="1050" noProof="0" dirty="0"/>
          </a:p>
        </p:txBody>
      </p:sp>
      <p:sp>
        <p:nvSpPr>
          <p:cNvPr id="12" name="Text 10"/>
          <p:cNvSpPr/>
          <p:nvPr/>
        </p:nvSpPr>
        <p:spPr>
          <a:xfrm>
            <a:off x="4160520" y="207568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$6.028</a:t>
            </a:r>
            <a:endParaRPr lang="es-CL" sz="1050" noProof="0" dirty="0"/>
          </a:p>
        </p:txBody>
      </p:sp>
      <p:sp>
        <p:nvSpPr>
          <p:cNvPr id="13" name="Text 11"/>
          <p:cNvSpPr/>
          <p:nvPr/>
        </p:nvSpPr>
        <p:spPr>
          <a:xfrm>
            <a:off x="5074920" y="207568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$5.502</a:t>
            </a:r>
            <a:endParaRPr lang="es-CL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822960" y="2459736"/>
            <a:ext cx="489204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24780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comercial (25%)</a:t>
            </a:r>
            <a:endParaRPr lang="es-CL" sz="1050" noProof="0" dirty="0"/>
          </a:p>
        </p:txBody>
      </p:sp>
      <p:sp>
        <p:nvSpPr>
          <p:cNvPr id="16" name="Text 14"/>
          <p:cNvSpPr/>
          <p:nvPr/>
        </p:nvSpPr>
        <p:spPr>
          <a:xfrm>
            <a:off x="3246120" y="24780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$1.913</a:t>
            </a:r>
            <a:endParaRPr lang="es-CL" sz="1050" noProof="0" dirty="0"/>
          </a:p>
        </p:txBody>
      </p:sp>
      <p:sp>
        <p:nvSpPr>
          <p:cNvPr id="17" name="Text 15"/>
          <p:cNvSpPr/>
          <p:nvPr/>
        </p:nvSpPr>
        <p:spPr>
          <a:xfrm>
            <a:off x="4160520" y="24780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$1.507</a:t>
            </a:r>
            <a:endParaRPr lang="es-CL" sz="1050" noProof="0" dirty="0"/>
          </a:p>
        </p:txBody>
      </p:sp>
      <p:sp>
        <p:nvSpPr>
          <p:cNvPr id="18" name="Text 16"/>
          <p:cNvSpPr/>
          <p:nvPr/>
        </p:nvSpPr>
        <p:spPr>
          <a:xfrm>
            <a:off x="5074920" y="24780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$1.376</a:t>
            </a:r>
            <a:endParaRPr lang="es-CL" sz="1050" noProof="0" dirty="0"/>
          </a:p>
        </p:txBody>
      </p:sp>
      <p:sp>
        <p:nvSpPr>
          <p:cNvPr id="19" name="Shape 17"/>
          <p:cNvSpPr/>
          <p:nvPr/>
        </p:nvSpPr>
        <p:spPr>
          <a:xfrm>
            <a:off x="822960" y="2862072"/>
            <a:ext cx="489204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/>
          <p:nvPr/>
        </p:nvSpPr>
        <p:spPr>
          <a:xfrm>
            <a:off x="82296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 proveedores (2%)</a:t>
            </a:r>
            <a:endParaRPr lang="es-CL" sz="1050" noProof="0" dirty="0"/>
          </a:p>
        </p:txBody>
      </p:sp>
      <p:sp>
        <p:nvSpPr>
          <p:cNvPr id="21" name="Text 19"/>
          <p:cNvSpPr/>
          <p:nvPr/>
        </p:nvSpPr>
        <p:spPr>
          <a:xfrm>
            <a:off x="3246120" y="2880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$153</a:t>
            </a:r>
            <a:endParaRPr lang="es-CL" sz="1050" noProof="0" dirty="0"/>
          </a:p>
        </p:txBody>
      </p:sp>
      <p:sp>
        <p:nvSpPr>
          <p:cNvPr id="22" name="Text 20"/>
          <p:cNvSpPr/>
          <p:nvPr/>
        </p:nvSpPr>
        <p:spPr>
          <a:xfrm>
            <a:off x="4160520" y="2880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$121</a:t>
            </a:r>
            <a:endParaRPr lang="es-CL" sz="1050" noProof="0" dirty="0"/>
          </a:p>
        </p:txBody>
      </p:sp>
      <p:sp>
        <p:nvSpPr>
          <p:cNvPr id="23" name="Text 21"/>
          <p:cNvSpPr/>
          <p:nvPr/>
        </p:nvSpPr>
        <p:spPr>
          <a:xfrm>
            <a:off x="5074920" y="2880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$110</a:t>
            </a:r>
            <a:endParaRPr lang="es-CL" sz="1050" noProof="0" dirty="0"/>
          </a:p>
        </p:txBody>
      </p:sp>
      <p:sp>
        <p:nvSpPr>
          <p:cNvPr id="24" name="Shape 22"/>
          <p:cNvSpPr/>
          <p:nvPr/>
        </p:nvSpPr>
        <p:spPr>
          <a:xfrm>
            <a:off x="822960" y="3264408"/>
            <a:ext cx="489204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 23"/>
          <p:cNvSpPr/>
          <p:nvPr/>
        </p:nvSpPr>
        <p:spPr>
          <a:xfrm>
            <a:off x="822960" y="3282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económico (27%)</a:t>
            </a:r>
            <a:endParaRPr lang="es-CL" sz="1050" noProof="0" dirty="0"/>
          </a:p>
        </p:txBody>
      </p:sp>
      <p:sp>
        <p:nvSpPr>
          <p:cNvPr id="26" name="Text 24"/>
          <p:cNvSpPr/>
          <p:nvPr/>
        </p:nvSpPr>
        <p:spPr>
          <a:xfrm>
            <a:off x="3246120" y="32826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$2.066</a:t>
            </a:r>
            <a:endParaRPr lang="es-CL" sz="1050" noProof="0" dirty="0"/>
          </a:p>
        </p:txBody>
      </p:sp>
      <p:sp>
        <p:nvSpPr>
          <p:cNvPr id="27" name="Text 25"/>
          <p:cNvSpPr/>
          <p:nvPr/>
        </p:nvSpPr>
        <p:spPr>
          <a:xfrm>
            <a:off x="4160520" y="32826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$1.628</a:t>
            </a:r>
            <a:endParaRPr lang="es-CL" sz="1050" noProof="0" dirty="0"/>
          </a:p>
        </p:txBody>
      </p:sp>
      <p:sp>
        <p:nvSpPr>
          <p:cNvPr id="28" name="Text 26"/>
          <p:cNvSpPr/>
          <p:nvPr/>
        </p:nvSpPr>
        <p:spPr>
          <a:xfrm>
            <a:off x="5074920" y="32826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$1.486</a:t>
            </a:r>
            <a:endParaRPr lang="es-CL" sz="1050" noProof="0" dirty="0"/>
          </a:p>
        </p:txBody>
      </p:sp>
      <p:sp>
        <p:nvSpPr>
          <p:cNvPr id="29" name="Shape 27"/>
          <p:cNvSpPr/>
          <p:nvPr/>
        </p:nvSpPr>
        <p:spPr>
          <a:xfrm>
            <a:off x="822960" y="3666744"/>
            <a:ext cx="489204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Text 28"/>
          <p:cNvSpPr/>
          <p:nvPr/>
        </p:nvSpPr>
        <p:spPr>
          <a:xfrm>
            <a:off x="822960" y="3685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</a:t>
            </a:r>
            <a:endParaRPr lang="es-CL" sz="1050" noProof="0" dirty="0"/>
          </a:p>
        </p:txBody>
      </p:sp>
      <p:sp>
        <p:nvSpPr>
          <p:cNvPr id="31" name="Text 29"/>
          <p:cNvSpPr/>
          <p:nvPr/>
        </p:nvSpPr>
        <p:spPr>
          <a:xfrm>
            <a:off x="3246120" y="368503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$2.517</a:t>
            </a:r>
            <a:endParaRPr lang="es-CL" sz="1050" noProof="0" dirty="0"/>
          </a:p>
        </p:txBody>
      </p:sp>
      <p:sp>
        <p:nvSpPr>
          <p:cNvPr id="32" name="Text 30"/>
          <p:cNvSpPr/>
          <p:nvPr/>
        </p:nvSpPr>
        <p:spPr>
          <a:xfrm>
            <a:off x="4160520" y="368503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$1.508</a:t>
            </a:r>
            <a:endParaRPr lang="es-CL" sz="1050" noProof="0" dirty="0"/>
          </a:p>
        </p:txBody>
      </p:sp>
      <p:sp>
        <p:nvSpPr>
          <p:cNvPr id="33" name="Text 31"/>
          <p:cNvSpPr/>
          <p:nvPr/>
        </p:nvSpPr>
        <p:spPr>
          <a:xfrm>
            <a:off x="5074920" y="368503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$1.250</a:t>
            </a:r>
            <a:endParaRPr lang="es-CL" sz="1050" noProof="0" dirty="0"/>
          </a:p>
        </p:txBody>
      </p:sp>
      <p:sp>
        <p:nvSpPr>
          <p:cNvPr id="34" name="Shape 32"/>
          <p:cNvSpPr/>
          <p:nvPr/>
        </p:nvSpPr>
        <p:spPr>
          <a:xfrm>
            <a:off x="822960" y="4069080"/>
            <a:ext cx="489204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Text 33"/>
          <p:cNvSpPr/>
          <p:nvPr/>
        </p:nvSpPr>
        <p:spPr>
          <a:xfrm>
            <a:off x="822960" y="4087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económico</a:t>
            </a:r>
            <a:endParaRPr lang="es-CL" sz="1050" noProof="0" dirty="0"/>
          </a:p>
        </p:txBody>
      </p:sp>
      <p:sp>
        <p:nvSpPr>
          <p:cNvPr id="36" name="Text 34"/>
          <p:cNvSpPr/>
          <p:nvPr/>
        </p:nvSpPr>
        <p:spPr>
          <a:xfrm>
            <a:off x="3246120" y="40873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b="1" noProof="0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−$451</a:t>
            </a:r>
            <a:endParaRPr lang="es-CL" sz="1050" noProof="0" dirty="0"/>
          </a:p>
        </p:txBody>
      </p:sp>
      <p:sp>
        <p:nvSpPr>
          <p:cNvPr id="37" name="Text 35"/>
          <p:cNvSpPr/>
          <p:nvPr/>
        </p:nvSpPr>
        <p:spPr>
          <a:xfrm>
            <a:off x="4160520" y="40873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b="1" noProof="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</a:t>
            </a:r>
            <a:endParaRPr lang="es-CL" sz="1050" noProof="0" dirty="0"/>
          </a:p>
        </p:txBody>
      </p:sp>
      <p:sp>
        <p:nvSpPr>
          <p:cNvPr id="38" name="Text 36"/>
          <p:cNvSpPr/>
          <p:nvPr/>
        </p:nvSpPr>
        <p:spPr>
          <a:xfrm>
            <a:off x="5074920" y="40873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b="1" noProof="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$236</a:t>
            </a:r>
            <a:endParaRPr lang="es-CL" sz="1050" noProof="0" dirty="0"/>
          </a:p>
        </p:txBody>
      </p:sp>
      <p:sp>
        <p:nvSpPr>
          <p:cNvPr id="39" name="Shape 37"/>
          <p:cNvSpPr/>
          <p:nvPr/>
        </p:nvSpPr>
        <p:spPr>
          <a:xfrm>
            <a:off x="6172200" y="1463040"/>
            <a:ext cx="54406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0" name="Text 38"/>
          <p:cNvSpPr/>
          <p:nvPr/>
        </p:nvSpPr>
        <p:spPr>
          <a:xfrm>
            <a:off x="644652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50" noProof="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ECONÓMICO — $MM (el giro)</a:t>
            </a:r>
            <a:endParaRPr lang="es-CL" sz="1200" noProof="0" dirty="0"/>
          </a:p>
        </p:txBody>
      </p:sp>
      <p:sp>
        <p:nvSpPr>
          <p:cNvPr id="41" name="Shape 39"/>
          <p:cNvSpPr/>
          <p:nvPr/>
        </p:nvSpPr>
        <p:spPr>
          <a:xfrm>
            <a:off x="6903720" y="2809524"/>
            <a:ext cx="914400" cy="738348"/>
          </a:xfrm>
          <a:prstGeom prst="rect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2" name="Text 40"/>
          <p:cNvSpPr/>
          <p:nvPr/>
        </p:nvSpPr>
        <p:spPr>
          <a:xfrm>
            <a:off x="6583680" y="35844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−451</a:t>
            </a:r>
            <a:endParaRPr lang="es-CL" sz="1150" noProof="0" dirty="0"/>
          </a:p>
        </p:txBody>
      </p:sp>
      <p:sp>
        <p:nvSpPr>
          <p:cNvPr id="43" name="Text 41"/>
          <p:cNvSpPr/>
          <p:nvPr/>
        </p:nvSpPr>
        <p:spPr>
          <a:xfrm>
            <a:off x="6583680" y="3950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s-CL" sz="1000" noProof="0" dirty="0"/>
          </a:p>
        </p:txBody>
      </p:sp>
      <p:sp>
        <p:nvSpPr>
          <p:cNvPr id="44" name="Shape 42"/>
          <p:cNvSpPr/>
          <p:nvPr/>
        </p:nvSpPr>
        <p:spPr>
          <a:xfrm>
            <a:off x="8412480" y="2613068"/>
            <a:ext cx="914400" cy="196456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5" name="Text 43"/>
          <p:cNvSpPr/>
          <p:nvPr/>
        </p:nvSpPr>
        <p:spPr>
          <a:xfrm>
            <a:off x="8092440" y="23387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s-CL" sz="1150" noProof="0" dirty="0"/>
          </a:p>
        </p:txBody>
      </p:sp>
      <p:sp>
        <p:nvSpPr>
          <p:cNvPr id="46" name="Text 44"/>
          <p:cNvSpPr/>
          <p:nvPr/>
        </p:nvSpPr>
        <p:spPr>
          <a:xfrm>
            <a:off x="8092440" y="3950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s-CL" sz="1000" noProof="0" dirty="0"/>
          </a:p>
        </p:txBody>
      </p:sp>
      <p:sp>
        <p:nvSpPr>
          <p:cNvPr id="47" name="Shape 45"/>
          <p:cNvSpPr/>
          <p:nvPr/>
        </p:nvSpPr>
        <p:spPr>
          <a:xfrm>
            <a:off x="9921240" y="2423160"/>
            <a:ext cx="914400" cy="386364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8" name="Text 46"/>
          <p:cNvSpPr/>
          <p:nvPr/>
        </p:nvSpPr>
        <p:spPr>
          <a:xfrm>
            <a:off x="9601200" y="2148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</a:t>
            </a:r>
            <a:endParaRPr lang="es-CL" sz="1150" noProof="0" dirty="0"/>
          </a:p>
        </p:txBody>
      </p:sp>
      <p:sp>
        <p:nvSpPr>
          <p:cNvPr id="49" name="Text 47"/>
          <p:cNvSpPr/>
          <p:nvPr/>
        </p:nvSpPr>
        <p:spPr>
          <a:xfrm>
            <a:off x="9601200" y="3950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2026P</a:t>
            </a:r>
            <a:endParaRPr lang="es-CL" sz="1000" noProof="0" dirty="0"/>
          </a:p>
        </p:txBody>
      </p:sp>
      <p:sp>
        <p:nvSpPr>
          <p:cNvPr id="50" name="Shape 48"/>
          <p:cNvSpPr/>
          <p:nvPr/>
        </p:nvSpPr>
        <p:spPr>
          <a:xfrm>
            <a:off x="6812280" y="2809524"/>
            <a:ext cx="4114800" cy="0"/>
          </a:xfrm>
          <a:prstGeom prst="line">
            <a:avLst/>
          </a:prstGeom>
          <a:noFill/>
          <a:ln w="12700">
            <a:solidFill>
              <a:srgbClr val="C8CDD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1" name="Text 49"/>
          <p:cNvSpPr/>
          <p:nvPr/>
        </p:nvSpPr>
        <p:spPr>
          <a:xfrm>
            <a:off x="6446520" y="4270248"/>
            <a:ext cx="4937760" cy="5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s-CL" sz="900" i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Cifras base gestión ($MM). 2026P = H1 real ($88M) + H2 presupuesto ($148M). H2 considera transición hacia objetivo de ~$95M/mes, con promedio cercano a ~$98M/mes. Margen económico = comercial (25%) + rappel (2%). 2024–2025 estimados.</a:t>
            </a:r>
            <a:endParaRPr lang="es-CL" sz="900" noProof="0" dirty="0"/>
          </a:p>
        </p:txBody>
      </p:sp>
      <p:sp>
        <p:nvSpPr>
          <p:cNvPr id="52" name="Shape 50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3" name="Text 51"/>
          <p:cNvSpPr/>
          <p:nvPr/>
        </p:nvSpPr>
        <p:spPr>
          <a:xfrm>
            <a:off x="914400" y="521208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3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El margen económico —margen comercial más rappel recurrente— vuelve a superar la estructura operacional. </a:t>
            </a:r>
            <a:r>
              <a:rPr lang="es-CL" sz="13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inversión no compra una promesa de crecimiento; compra la consolidación de una recuperación ya ejecutada y medible.</a:t>
            </a:r>
            <a:endParaRPr lang="es-CL" sz="1300" noProof="0" dirty="0"/>
          </a:p>
        </p:txBody>
      </p:sp>
      <p:sp>
        <p:nvSpPr>
          <p:cNvPr id="54" name="Text 5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800" noProof="0" dirty="0" err="1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Confidencial  ·  Caso de inversión — Junio 2026</a:t>
            </a:r>
            <a:endParaRPr lang="es-CL" sz="800" noProof="0" dirty="0"/>
          </a:p>
        </p:txBody>
      </p:sp>
      <p:sp>
        <p:nvSpPr>
          <p:cNvPr id="55" name="Text 53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de estructura mensual</a:t>
            </a:r>
            <a:endParaRPr lang="es-CL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una estructura diseñada para la máxima expansión a una sostenible para el nivel de ventas actual</a:t>
            </a:r>
            <a:endParaRPr lang="es-CL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868680" y="1517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950" b="1" kern="0" spc="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</a:t>
            </a:r>
            <a:endParaRPr lang="es-CL" sz="950" noProof="0" dirty="0"/>
          </a:p>
        </p:txBody>
      </p:sp>
      <p:sp>
        <p:nvSpPr>
          <p:cNvPr id="6" name="Text 4"/>
          <p:cNvSpPr/>
          <p:nvPr/>
        </p:nvSpPr>
        <p:spPr>
          <a:xfrm>
            <a:off x="3840480" y="1517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b="1" kern="0" spc="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 / MES</a:t>
            </a:r>
            <a:endParaRPr lang="es-CL" sz="950" noProof="0" dirty="0"/>
          </a:p>
        </p:txBody>
      </p:sp>
      <p:sp>
        <p:nvSpPr>
          <p:cNvPr id="7" name="Text 5"/>
          <p:cNvSpPr/>
          <p:nvPr/>
        </p:nvSpPr>
        <p:spPr>
          <a:xfrm>
            <a:off x="5669280" y="1517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b="1" kern="0" spc="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 / AÑO</a:t>
            </a:r>
            <a:endParaRPr lang="es-CL" sz="950" noProof="0" dirty="0"/>
          </a:p>
        </p:txBody>
      </p:sp>
      <p:sp>
        <p:nvSpPr>
          <p:cNvPr id="8" name="Text 6"/>
          <p:cNvSpPr/>
          <p:nvPr/>
        </p:nvSpPr>
        <p:spPr>
          <a:xfrm>
            <a:off x="7498080" y="1517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950" b="1" kern="0" spc="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s-CL" sz="950" noProof="0" dirty="0"/>
          </a:p>
        </p:txBody>
      </p:sp>
      <p:sp>
        <p:nvSpPr>
          <p:cNvPr id="9" name="Shape 7"/>
          <p:cNvSpPr/>
          <p:nvPr/>
        </p:nvSpPr>
        <p:spPr>
          <a:xfrm>
            <a:off x="868680" y="1847088"/>
            <a:ext cx="10451592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9751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la reestructuración</a:t>
            </a:r>
            <a:endParaRPr lang="es-CL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3840480" y="19751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50" b="1" noProof="0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~$180M</a:t>
            </a:r>
            <a:endParaRPr lang="es-CL" sz="1250" noProof="0" dirty="0"/>
          </a:p>
        </p:txBody>
      </p:sp>
      <p:sp>
        <p:nvSpPr>
          <p:cNvPr id="12" name="Text 10"/>
          <p:cNvSpPr/>
          <p:nvPr/>
        </p:nvSpPr>
        <p:spPr>
          <a:xfrm>
            <a:off x="5669280" y="19751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~$2.160M</a:t>
            </a:r>
            <a:endParaRPr lang="es-CL" sz="1150" noProof="0" dirty="0"/>
          </a:p>
        </p:txBody>
      </p:sp>
      <p:sp>
        <p:nvSpPr>
          <p:cNvPr id="13" name="Text 11"/>
          <p:cNvSpPr/>
          <p:nvPr/>
        </p:nvSpPr>
        <p:spPr>
          <a:xfrm>
            <a:off x="7498080" y="1975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Sobredimensionada para la venta real</a:t>
            </a:r>
            <a:endParaRPr lang="es-CL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868680" y="2350008"/>
            <a:ext cx="10451592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/>
          <p:nvPr/>
        </p:nvSpPr>
        <p:spPr>
          <a:xfrm>
            <a:off x="868680" y="23682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actual</a:t>
            </a:r>
            <a:endParaRPr lang="es-CL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3840480" y="23682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50" b="1" noProof="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~$110M</a:t>
            </a:r>
            <a:endParaRPr lang="es-CL" sz="1250" noProof="0" dirty="0"/>
          </a:p>
        </p:txBody>
      </p:sp>
      <p:sp>
        <p:nvSpPr>
          <p:cNvPr id="17" name="Text 15"/>
          <p:cNvSpPr/>
          <p:nvPr/>
        </p:nvSpPr>
        <p:spPr>
          <a:xfrm>
            <a:off x="5669280" y="23682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~$1.320M</a:t>
            </a:r>
            <a:endParaRPr lang="es-CL" sz="1150" noProof="0" dirty="0"/>
          </a:p>
        </p:txBody>
      </p:sp>
      <p:sp>
        <p:nvSpPr>
          <p:cNvPr id="18" name="Text 16"/>
          <p:cNvSpPr/>
          <p:nvPr/>
        </p:nvSpPr>
        <p:spPr>
          <a:xfrm>
            <a:off x="7498080" y="23682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fuerte ya ejecutado · EBITDA positivo</a:t>
            </a:r>
            <a:endParaRPr lang="es-CL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868680" y="2743200"/>
            <a:ext cx="10451592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/>
          <p:nvPr/>
        </p:nvSpPr>
        <p:spPr>
          <a:xfrm>
            <a:off x="868680" y="27614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operativo</a:t>
            </a:r>
            <a:endParaRPr lang="es-CL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3840480" y="27614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5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~$95M</a:t>
            </a:r>
            <a:endParaRPr lang="es-CL" sz="1250" noProof="0" dirty="0"/>
          </a:p>
        </p:txBody>
      </p:sp>
      <p:sp>
        <p:nvSpPr>
          <p:cNvPr id="22" name="Text 20"/>
          <p:cNvSpPr/>
          <p:nvPr/>
        </p:nvSpPr>
        <p:spPr>
          <a:xfrm>
            <a:off x="5669280" y="27614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~$1.140M</a:t>
            </a:r>
            <a:endParaRPr lang="es-CL" sz="1150" noProof="0" dirty="0"/>
          </a:p>
        </p:txBody>
      </p:sp>
      <p:sp>
        <p:nvSpPr>
          <p:cNvPr id="23" name="Text 21"/>
          <p:cNvSpPr/>
          <p:nvPr/>
        </p:nvSpPr>
        <p:spPr>
          <a:xfrm>
            <a:off x="7498080" y="2761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sostenible bajo el máximo histórico</a:t>
            </a:r>
            <a:endParaRPr lang="es-CL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548640" y="3310128"/>
            <a:ext cx="11091672" cy="676656"/>
          </a:xfrm>
          <a:prstGeom prst="roundRect">
            <a:avLst>
              <a:gd name="adj" fmla="val 8108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 23"/>
          <p:cNvSpPr/>
          <p:nvPr/>
        </p:nvSpPr>
        <p:spPr>
          <a:xfrm>
            <a:off x="914400" y="3310128"/>
            <a:ext cx="10360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CL" sz="125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El </a:t>
            </a:r>
            <a:r>
              <a:rPr lang="es-CL" sz="1250" b="1" noProof="0" dirty="0" err="1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</a:t>
            </a:r>
            <a:r>
              <a:rPr lang="es-CL" sz="125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no depende de volver a vender como en 2024. </a:t>
            </a:r>
            <a:r>
              <a:rPr lang="es-CL" sz="12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 sostener una estructura mensual compatible con el margen económico actual del negocio.</a:t>
            </a:r>
            <a:endParaRPr lang="es-CL" sz="1250" noProof="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1109167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Text 25"/>
          <p:cNvSpPr/>
          <p:nvPr/>
        </p:nvSpPr>
        <p:spPr>
          <a:xfrm>
            <a:off x="868680" y="4224528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b="1" kern="0" spc="30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2026 PROYECTADO  ·  H1 real ($88M) + H2 presupuesto ($148M) = $236M</a:t>
            </a:r>
            <a:endParaRPr lang="es-CL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868680" y="4535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950" b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s-CL" sz="950" noProof="0" dirty="0"/>
          </a:p>
        </p:txBody>
      </p:sp>
      <p:sp>
        <p:nvSpPr>
          <p:cNvPr id="29" name="Text 27"/>
          <p:cNvSpPr/>
          <p:nvPr/>
        </p:nvSpPr>
        <p:spPr>
          <a:xfrm>
            <a:off x="4389120" y="4535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b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$MM</a:t>
            </a:r>
            <a:endParaRPr lang="es-CL" sz="950" noProof="0" dirty="0"/>
          </a:p>
        </p:txBody>
      </p:sp>
      <p:sp>
        <p:nvSpPr>
          <p:cNvPr id="30" name="Text 28"/>
          <p:cNvSpPr/>
          <p:nvPr/>
        </p:nvSpPr>
        <p:spPr>
          <a:xfrm>
            <a:off x="7132320" y="4535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b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$MM</a:t>
            </a:r>
            <a:endParaRPr lang="es-CL" sz="950" noProof="0" dirty="0"/>
          </a:p>
        </p:txBody>
      </p:sp>
      <p:sp>
        <p:nvSpPr>
          <p:cNvPr id="31" name="Text 29"/>
          <p:cNvSpPr/>
          <p:nvPr/>
        </p:nvSpPr>
        <p:spPr>
          <a:xfrm>
            <a:off x="9601200" y="4535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b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$MM</a:t>
            </a:r>
            <a:endParaRPr lang="es-CL" sz="950" noProof="0" dirty="0"/>
          </a:p>
        </p:txBody>
      </p:sp>
      <p:sp>
        <p:nvSpPr>
          <p:cNvPr id="32" name="Shape 30"/>
          <p:cNvSpPr/>
          <p:nvPr/>
        </p:nvSpPr>
        <p:spPr>
          <a:xfrm>
            <a:off x="868680" y="4818888"/>
            <a:ext cx="10451592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3" name="Text 31"/>
          <p:cNvSpPr/>
          <p:nvPr/>
        </p:nvSpPr>
        <p:spPr>
          <a:xfrm>
            <a:off x="868680" y="49011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ene–jun (real)</a:t>
            </a:r>
            <a:endParaRPr lang="es-CL" sz="1050" noProof="0" dirty="0"/>
          </a:p>
        </p:txBody>
      </p:sp>
      <p:sp>
        <p:nvSpPr>
          <p:cNvPr id="34" name="Text 32"/>
          <p:cNvSpPr/>
          <p:nvPr/>
        </p:nvSpPr>
        <p:spPr>
          <a:xfrm>
            <a:off x="4389120" y="49011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$2.790</a:t>
            </a:r>
            <a:endParaRPr lang="es-CL" sz="1050" noProof="0" dirty="0"/>
          </a:p>
        </p:txBody>
      </p:sp>
      <p:sp>
        <p:nvSpPr>
          <p:cNvPr id="35" name="Text 33"/>
          <p:cNvSpPr/>
          <p:nvPr/>
        </p:nvSpPr>
        <p:spPr>
          <a:xfrm>
            <a:off x="7132320" y="49011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$660</a:t>
            </a:r>
            <a:endParaRPr lang="es-CL" sz="1050" noProof="0" dirty="0"/>
          </a:p>
        </p:txBody>
      </p:sp>
      <p:sp>
        <p:nvSpPr>
          <p:cNvPr id="36" name="Text 34"/>
          <p:cNvSpPr/>
          <p:nvPr/>
        </p:nvSpPr>
        <p:spPr>
          <a:xfrm>
            <a:off x="9601200" y="49011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00" b="1" noProof="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+$88M</a:t>
            </a:r>
            <a:endParaRPr lang="es-CL" sz="1100" noProof="0" dirty="0"/>
          </a:p>
        </p:txBody>
      </p:sp>
      <p:sp>
        <p:nvSpPr>
          <p:cNvPr id="37" name="Text 35"/>
          <p:cNvSpPr/>
          <p:nvPr/>
        </p:nvSpPr>
        <p:spPr>
          <a:xfrm>
            <a:off x="868680" y="51343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jul–dic (presupuesto)</a:t>
            </a:r>
            <a:endParaRPr lang="es-CL" sz="1050" noProof="0" dirty="0"/>
          </a:p>
        </p:txBody>
      </p:sp>
      <p:sp>
        <p:nvSpPr>
          <p:cNvPr id="38" name="Text 36"/>
          <p:cNvSpPr/>
          <p:nvPr/>
        </p:nvSpPr>
        <p:spPr>
          <a:xfrm>
            <a:off x="4389120" y="51343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$2.712</a:t>
            </a:r>
            <a:endParaRPr lang="es-CL" sz="1050" noProof="0" dirty="0"/>
          </a:p>
        </p:txBody>
      </p:sp>
      <p:sp>
        <p:nvSpPr>
          <p:cNvPr id="39" name="Text 37"/>
          <p:cNvSpPr/>
          <p:nvPr/>
        </p:nvSpPr>
        <p:spPr>
          <a:xfrm>
            <a:off x="7132320" y="51343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$590</a:t>
            </a:r>
            <a:endParaRPr lang="es-CL" sz="1050" noProof="0" dirty="0"/>
          </a:p>
        </p:txBody>
      </p:sp>
      <p:sp>
        <p:nvSpPr>
          <p:cNvPr id="40" name="Text 38"/>
          <p:cNvSpPr/>
          <p:nvPr/>
        </p:nvSpPr>
        <p:spPr>
          <a:xfrm>
            <a:off x="9601200" y="51343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00" b="1" noProof="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+$148M</a:t>
            </a:r>
            <a:endParaRPr lang="es-CL" sz="1100" noProof="0" dirty="0"/>
          </a:p>
        </p:txBody>
      </p:sp>
      <p:sp>
        <p:nvSpPr>
          <p:cNvPr id="41" name="Text 39"/>
          <p:cNvSpPr/>
          <p:nvPr/>
        </p:nvSpPr>
        <p:spPr>
          <a:xfrm>
            <a:off x="868680" y="53675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proyectado</a:t>
            </a:r>
            <a:endParaRPr lang="es-CL" sz="1050" noProof="0" dirty="0"/>
          </a:p>
        </p:txBody>
      </p:sp>
      <p:sp>
        <p:nvSpPr>
          <p:cNvPr id="42" name="Text 40"/>
          <p:cNvSpPr/>
          <p:nvPr/>
        </p:nvSpPr>
        <p:spPr>
          <a:xfrm>
            <a:off x="4389120" y="5367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$5.502</a:t>
            </a:r>
            <a:endParaRPr lang="es-CL" sz="1050" noProof="0" dirty="0"/>
          </a:p>
        </p:txBody>
      </p:sp>
      <p:sp>
        <p:nvSpPr>
          <p:cNvPr id="43" name="Text 41"/>
          <p:cNvSpPr/>
          <p:nvPr/>
        </p:nvSpPr>
        <p:spPr>
          <a:xfrm>
            <a:off x="7132320" y="5367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$1.250</a:t>
            </a:r>
            <a:endParaRPr lang="es-CL" sz="1050" noProof="0" dirty="0"/>
          </a:p>
        </p:txBody>
      </p:sp>
      <p:sp>
        <p:nvSpPr>
          <p:cNvPr id="44" name="Text 42"/>
          <p:cNvSpPr/>
          <p:nvPr/>
        </p:nvSpPr>
        <p:spPr>
          <a:xfrm>
            <a:off x="9601200" y="5367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+$236M</a:t>
            </a:r>
            <a:endParaRPr lang="es-CL" sz="1100" noProof="0" dirty="0"/>
          </a:p>
        </p:txBody>
      </p:sp>
      <p:sp>
        <p:nvSpPr>
          <p:cNvPr id="45" name="Text 43"/>
          <p:cNvSpPr/>
          <p:nvPr/>
        </p:nvSpPr>
        <p:spPr>
          <a:xfrm>
            <a:off x="548640" y="577900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CL" sz="11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La creación de valor: </a:t>
            </a:r>
            <a:r>
              <a:rPr lang="es-CL" sz="11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la estructura de ~$180M a ~$110M/mes y completar el ajuste a ~$95M. A ese nivel el negocio genera caja operacional positiva sin recuperar los máximos históricos de venta.</a:t>
            </a:r>
            <a:endParaRPr lang="es-CL" sz="1100" noProof="0" dirty="0"/>
          </a:p>
        </p:txBody>
      </p:sp>
      <p:sp>
        <p:nvSpPr>
          <p:cNvPr id="46" name="Text 4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800" noProof="0" dirty="0" err="1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Confidencial  ·  Caso de inversión — Junio 2026</a:t>
            </a:r>
            <a:endParaRPr lang="es-CL" sz="800" noProof="0" dirty="0"/>
          </a:p>
        </p:txBody>
      </p:sp>
      <p:sp>
        <p:nvSpPr>
          <p:cNvPr id="47" name="Text 45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2600" b="1" noProof="0" dirty="0" err="1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hoy: negocio rentable, balance tensionado</a:t>
            </a:r>
            <a:endParaRPr lang="es-CL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foto sin adornos — cifras de balance tributario</a:t>
            </a:r>
            <a:endParaRPr lang="es-CL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7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~$5.500M</a:t>
            </a:r>
            <a:endParaRPr lang="es-CL" sz="2700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 anuales 2026</a:t>
            </a:r>
            <a:endParaRPr lang="es-CL" sz="1050" noProof="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5603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/>
          <p:cNvSpPr/>
          <p:nvPr/>
        </p:nvSpPr>
        <p:spPr>
          <a:xfrm>
            <a:off x="329184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7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≈27%</a:t>
            </a:r>
            <a:endParaRPr lang="es-CL" sz="2700" noProof="0" dirty="0"/>
          </a:p>
        </p:txBody>
      </p:sp>
      <p:sp>
        <p:nvSpPr>
          <p:cNvPr id="9" name="Text 7"/>
          <p:cNvSpPr/>
          <p:nvPr/>
        </p:nvSpPr>
        <p:spPr>
          <a:xfrm>
            <a:off x="34290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económico (25% + 2%)</a:t>
            </a:r>
            <a:endParaRPr lang="es-CL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5603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603504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7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$236M</a:t>
            </a:r>
            <a:endParaRPr lang="es-CL" sz="2700" noProof="0" dirty="0"/>
          </a:p>
        </p:txBody>
      </p:sp>
      <p:sp>
        <p:nvSpPr>
          <p:cNvPr id="12" name="Text 10"/>
          <p:cNvSpPr/>
          <p:nvPr/>
        </p:nvSpPr>
        <p:spPr>
          <a:xfrm>
            <a:off x="61722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económico 2026P (4,3%)</a:t>
            </a:r>
            <a:endParaRPr lang="es-CL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8778240" y="1417320"/>
            <a:ext cx="25603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/>
          <p:nvPr/>
        </p:nvSpPr>
        <p:spPr>
          <a:xfrm>
            <a:off x="877824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7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s-CL" sz="2700" noProof="0" dirty="0"/>
          </a:p>
        </p:txBody>
      </p:sp>
      <p:sp>
        <p:nvSpPr>
          <p:cNvPr id="15" name="Text 13"/>
          <p:cNvSpPr/>
          <p:nvPr/>
        </p:nvSpPr>
        <p:spPr>
          <a:xfrm>
            <a:off x="89154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Sucursales activas</a:t>
            </a:r>
            <a:endParaRPr lang="es-CL" sz="1050" noProof="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544068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822960" y="3154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00" noProof="0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PESA — OBLIGACIONES</a:t>
            </a:r>
            <a:endParaRPr lang="es-CL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Deuda bancaria (saldo vigente)</a:t>
            </a:r>
            <a:endParaRPr lang="es-CL" sz="1250" noProof="0" dirty="0"/>
          </a:p>
        </p:txBody>
      </p:sp>
      <p:sp>
        <p:nvSpPr>
          <p:cNvPr id="19" name="Text 17"/>
          <p:cNvSpPr/>
          <p:nvPr/>
        </p:nvSpPr>
        <p:spPr>
          <a:xfrm>
            <a:off x="4480560" y="35204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$498M</a:t>
            </a:r>
            <a:endParaRPr lang="es-CL" sz="1300" noProof="0" dirty="0"/>
          </a:p>
        </p:txBody>
      </p:sp>
      <p:sp>
        <p:nvSpPr>
          <p:cNvPr id="20" name="Shape 18"/>
          <p:cNvSpPr/>
          <p:nvPr/>
        </p:nvSpPr>
        <p:spPr>
          <a:xfrm>
            <a:off x="822960" y="3941064"/>
            <a:ext cx="489204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/>
          <p:nvPr/>
        </p:nvSpPr>
        <p:spPr>
          <a:xfrm>
            <a:off x="82296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Proveedores (en normalización)</a:t>
            </a:r>
            <a:endParaRPr lang="es-CL" sz="1250" noProof="0" dirty="0"/>
          </a:p>
        </p:txBody>
      </p:sp>
      <p:sp>
        <p:nvSpPr>
          <p:cNvPr id="22" name="Text 20"/>
          <p:cNvSpPr/>
          <p:nvPr/>
        </p:nvSpPr>
        <p:spPr>
          <a:xfrm>
            <a:off x="4480560" y="4023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~$300M</a:t>
            </a:r>
            <a:endParaRPr lang="es-CL" sz="1300" noProof="0" dirty="0"/>
          </a:p>
        </p:txBody>
      </p:sp>
      <p:sp>
        <p:nvSpPr>
          <p:cNvPr id="23" name="Shape 21"/>
          <p:cNvSpPr/>
          <p:nvPr/>
        </p:nvSpPr>
        <p:spPr>
          <a:xfrm>
            <a:off x="822960" y="4443984"/>
            <a:ext cx="489204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Text 22"/>
          <p:cNvSpPr/>
          <p:nvPr/>
        </p:nvSpPr>
        <p:spPr>
          <a:xfrm>
            <a:off x="82296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Convenio impuestos (TGR)</a:t>
            </a:r>
            <a:endParaRPr lang="es-CL" sz="1250" noProof="0" dirty="0"/>
          </a:p>
        </p:txBody>
      </p:sp>
      <p:sp>
        <p:nvSpPr>
          <p:cNvPr id="25" name="Text 23"/>
          <p:cNvSpPr/>
          <p:nvPr/>
        </p:nvSpPr>
        <p:spPr>
          <a:xfrm>
            <a:off x="4480560" y="4526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~$203M</a:t>
            </a:r>
            <a:endParaRPr lang="es-CL" sz="1300" noProof="0" dirty="0"/>
          </a:p>
        </p:txBody>
      </p:sp>
      <p:sp>
        <p:nvSpPr>
          <p:cNvPr id="26" name="Shape 24"/>
          <p:cNvSpPr/>
          <p:nvPr/>
        </p:nvSpPr>
        <p:spPr>
          <a:xfrm>
            <a:off x="822960" y="4946904"/>
            <a:ext cx="489204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Text 25"/>
          <p:cNvSpPr/>
          <p:nvPr/>
        </p:nvSpPr>
        <p:spPr>
          <a:xfrm>
            <a:off x="82296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Patrimonio contable</a:t>
            </a:r>
            <a:endParaRPr lang="es-CL" sz="1250" noProof="0" dirty="0"/>
          </a:p>
        </p:txBody>
      </p:sp>
      <p:sp>
        <p:nvSpPr>
          <p:cNvPr id="28" name="Text 26"/>
          <p:cNvSpPr/>
          <p:nvPr/>
        </p:nvSpPr>
        <p:spPr>
          <a:xfrm>
            <a:off x="4480560" y="5029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($795M)</a:t>
            </a:r>
            <a:endParaRPr lang="es-CL" sz="1300" noProof="0" dirty="0"/>
          </a:p>
        </p:txBody>
      </p:sp>
      <p:sp>
        <p:nvSpPr>
          <p:cNvPr id="29" name="Text 27"/>
          <p:cNvSpPr/>
          <p:nvPr/>
        </p:nvSpPr>
        <p:spPr>
          <a:xfrm>
            <a:off x="822960" y="56509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i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Patrimonio negativo = pérdidas históricas acumuladas, no deterioro reciente.</a:t>
            </a:r>
            <a:endParaRPr lang="es-CL" sz="1000" noProof="0" dirty="0"/>
          </a:p>
        </p:txBody>
      </p:sp>
      <p:sp>
        <p:nvSpPr>
          <p:cNvPr id="30" name="Shape 28"/>
          <p:cNvSpPr/>
          <p:nvPr/>
        </p:nvSpPr>
        <p:spPr>
          <a:xfrm>
            <a:off x="6172200" y="2971800"/>
            <a:ext cx="544068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Text 29"/>
          <p:cNvSpPr/>
          <p:nvPr/>
        </p:nvSpPr>
        <p:spPr>
          <a:xfrm>
            <a:off x="6446520" y="3154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00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OPERACIONAL</a:t>
            </a:r>
            <a:endParaRPr lang="es-CL" sz="1200" noProof="0" dirty="0"/>
          </a:p>
        </p:txBody>
      </p:sp>
      <p:sp>
        <p:nvSpPr>
          <p:cNvPr id="32" name="Text 30"/>
          <p:cNvSpPr/>
          <p:nvPr/>
        </p:nvSpPr>
        <p:spPr>
          <a:xfrm>
            <a:off x="644652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s-CL" sz="1200" noProof="0" dirty="0"/>
          </a:p>
        </p:txBody>
      </p:sp>
      <p:sp>
        <p:nvSpPr>
          <p:cNvPr id="33" name="Text 31"/>
          <p:cNvSpPr/>
          <p:nvPr/>
        </p:nvSpPr>
        <p:spPr>
          <a:xfrm>
            <a:off x="8265832" y="3566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sucursales · 2 regiones</a:t>
            </a:r>
            <a:endParaRPr lang="es-CL" sz="1150" noProof="0" dirty="0"/>
          </a:p>
        </p:txBody>
      </p:sp>
      <p:sp>
        <p:nvSpPr>
          <p:cNvPr id="34" name="Shape 32"/>
          <p:cNvSpPr/>
          <p:nvPr/>
        </p:nvSpPr>
        <p:spPr>
          <a:xfrm>
            <a:off x="6446520" y="3986784"/>
            <a:ext cx="489204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Text 33"/>
          <p:cNvSpPr/>
          <p:nvPr/>
        </p:nvSpPr>
        <p:spPr>
          <a:xfrm>
            <a:off x="6446520" y="4069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s-CL" sz="1200" noProof="0" dirty="0"/>
          </a:p>
        </p:txBody>
      </p:sp>
      <p:sp>
        <p:nvSpPr>
          <p:cNvPr id="36" name="Text 34"/>
          <p:cNvSpPr/>
          <p:nvPr/>
        </p:nvSpPr>
        <p:spPr>
          <a:xfrm>
            <a:off x="8265832" y="4069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colaboradores</a:t>
            </a:r>
            <a:endParaRPr lang="es-CL" sz="1150" noProof="0" dirty="0"/>
          </a:p>
        </p:txBody>
      </p:sp>
      <p:sp>
        <p:nvSpPr>
          <p:cNvPr id="37" name="Shape 35"/>
          <p:cNvSpPr/>
          <p:nvPr/>
        </p:nvSpPr>
        <p:spPr>
          <a:xfrm>
            <a:off x="6446520" y="4489704"/>
            <a:ext cx="489204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8" name="Text 36"/>
          <p:cNvSpPr/>
          <p:nvPr/>
        </p:nvSpPr>
        <p:spPr>
          <a:xfrm>
            <a:off x="644652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Trayectoria</a:t>
            </a:r>
            <a:endParaRPr lang="es-CL" sz="1200" noProof="0" dirty="0"/>
          </a:p>
        </p:txBody>
      </p:sp>
      <p:sp>
        <p:nvSpPr>
          <p:cNvPr id="39" name="Text 37"/>
          <p:cNvSpPr/>
          <p:nvPr/>
        </p:nvSpPr>
        <p:spPr>
          <a:xfrm>
            <a:off x="8265832" y="4572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años de operación</a:t>
            </a:r>
            <a:endParaRPr lang="es-CL" sz="1150" noProof="0" dirty="0"/>
          </a:p>
        </p:txBody>
      </p:sp>
      <p:sp>
        <p:nvSpPr>
          <p:cNvPr id="40" name="Shape 38"/>
          <p:cNvSpPr/>
          <p:nvPr/>
        </p:nvSpPr>
        <p:spPr>
          <a:xfrm>
            <a:off x="6446520" y="4992624"/>
            <a:ext cx="489204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1" name="Text 39"/>
          <p:cNvSpPr/>
          <p:nvPr/>
        </p:nvSpPr>
        <p:spPr>
          <a:xfrm>
            <a:off x="6446520" y="5074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económico</a:t>
            </a:r>
            <a:endParaRPr lang="es-CL" sz="1200" noProof="0" dirty="0"/>
          </a:p>
        </p:txBody>
      </p:sp>
      <p:sp>
        <p:nvSpPr>
          <p:cNvPr id="42" name="Text 40"/>
          <p:cNvSpPr/>
          <p:nvPr/>
        </p:nvSpPr>
        <p:spPr>
          <a:xfrm>
            <a:off x="8265832" y="5074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+ 2% = 27%</a:t>
            </a:r>
            <a:endParaRPr lang="es-CL" sz="1150" noProof="0" dirty="0"/>
          </a:p>
        </p:txBody>
      </p:sp>
      <p:sp>
        <p:nvSpPr>
          <p:cNvPr id="43" name="Shape 41"/>
          <p:cNvSpPr/>
          <p:nvPr/>
        </p:nvSpPr>
        <p:spPr>
          <a:xfrm>
            <a:off x="6446520" y="5495544"/>
            <a:ext cx="489204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4" name="Text 42"/>
          <p:cNvSpPr/>
          <p:nvPr/>
        </p:nvSpPr>
        <p:spPr>
          <a:xfrm>
            <a:off x="6446520" y="5577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s-CL" sz="1200" noProof="0" dirty="0"/>
          </a:p>
        </p:txBody>
      </p:sp>
      <p:sp>
        <p:nvSpPr>
          <p:cNvPr id="45" name="Text 43"/>
          <p:cNvSpPr/>
          <p:nvPr/>
        </p:nvSpPr>
        <p:spPr>
          <a:xfrm>
            <a:off x="8265832" y="5577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positivo desde 2025</a:t>
            </a:r>
            <a:endParaRPr lang="es-CL" sz="1150" noProof="0" dirty="0"/>
          </a:p>
        </p:txBody>
      </p:sp>
      <p:sp>
        <p:nvSpPr>
          <p:cNvPr id="46" name="Text 4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800" noProof="0" dirty="0" err="1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Confidencial  ·  Caso de inversión — Junio 2026</a:t>
            </a:r>
            <a:endParaRPr lang="es-CL" sz="800" noProof="0" dirty="0"/>
          </a:p>
        </p:txBody>
      </p:sp>
      <p:sp>
        <p:nvSpPr>
          <p:cNvPr id="47" name="Text 45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s-CL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El negocio no está roto — está </a:t>
            </a:r>
            <a:r>
              <a:rPr lang="es-CL" sz="1250" b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sobre apalancado </a:t>
            </a: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en proceso de normalización</a:t>
            </a:r>
            <a:endParaRPr lang="es-CL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La tesis:  </a:t>
            </a:r>
            <a:r>
              <a:rPr lang="es-CL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 liquidez y orden, no de solvencia operativa. El desorden ya se está corrigiendo — el capital acelera lo que ya funciona.</a:t>
            </a:r>
            <a:endParaRPr lang="es-CL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4068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ESTRUCTURAL — exige capital y disciplina</a:t>
            </a:r>
            <a:endParaRPr lang="es-CL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apalancamiento</a:t>
            </a:r>
            <a:endParaRPr lang="es-CL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31821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Deuda bancaria + proveedores + impuestos sobre una caja estacional</a:t>
            </a:r>
            <a:endParaRPr lang="es-CL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822960" y="36941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estrecho</a:t>
            </a:r>
            <a:endParaRPr lang="es-CL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9502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Conveniencia: margen económico defendible, pero estrecho; errores en costos, quiebres, </a:t>
            </a:r>
            <a:r>
              <a:rPr lang="es-CL" sz="1100" noProof="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</a:t>
            </a:r>
            <a:r>
              <a:rPr lang="es-CL" sz="11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 reposición impactan directo el EBITDA</a:t>
            </a:r>
            <a:endParaRPr lang="es-CL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4622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 trabajo exigente</a:t>
            </a:r>
            <a:endParaRPr lang="es-CL" sz="125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Reponer stock rentable requiere caja que hoy no existe</a:t>
            </a:r>
            <a:endParaRPr lang="es-CL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5230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Estacionalidad</a:t>
            </a:r>
            <a:endParaRPr lang="es-CL" sz="125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meses fuertes, 9 débiles — el flujo no es parejo</a:t>
            </a:r>
            <a:endParaRPr lang="es-CL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6172200" y="2377440"/>
            <a:ext cx="544068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6446520" y="2560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CORREGIBLE — ya en marcha</a:t>
            </a:r>
            <a:endParaRPr lang="es-CL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6446520" y="2926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Quiebres de stock AX</a:t>
            </a:r>
            <a:endParaRPr lang="es-CL" sz="1250" noProof="0" dirty="0"/>
          </a:p>
        </p:txBody>
      </p:sp>
      <p:sp>
        <p:nvSpPr>
          <p:cNvPr id="19" name="Text 17"/>
          <p:cNvSpPr/>
          <p:nvPr/>
        </p:nvSpPr>
        <p:spPr>
          <a:xfrm>
            <a:off x="6446520" y="31821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00" noProof="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r>
              <a:rPr lang="es-CL" sz="11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de alta rotación identificados y priorizados para reposición</a:t>
            </a:r>
            <a:endParaRPr lang="es-CL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6446520" y="36941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Gastos operativos</a:t>
            </a:r>
            <a:endParaRPr lang="es-CL" sz="1250" noProof="0" dirty="0"/>
          </a:p>
        </p:txBody>
      </p:sp>
      <p:sp>
        <p:nvSpPr>
          <p:cNvPr id="21" name="Text 19"/>
          <p:cNvSpPr/>
          <p:nvPr/>
        </p:nvSpPr>
        <p:spPr>
          <a:xfrm>
            <a:off x="6446520" y="39502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 mensual recurrente reducido de ~$180M a ~$110M, con objetivo ~$95M. Ajuste estructural hecho</a:t>
            </a:r>
            <a:endParaRPr lang="es-CL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6446520" y="44622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Deuda renegociable</a:t>
            </a:r>
            <a:endParaRPr lang="es-CL" sz="1250" noProof="0" dirty="0"/>
          </a:p>
        </p:txBody>
      </p:sp>
      <p:sp>
        <p:nvSpPr>
          <p:cNvPr id="23" name="Text 21"/>
          <p:cNvSpPr/>
          <p:nvPr/>
        </p:nvSpPr>
        <p:spPr>
          <a:xfrm>
            <a:off x="6446520" y="47183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Convenio TGR a $4M/mes; prepago con condonación contemplado en el uso de fondos</a:t>
            </a:r>
            <a:endParaRPr lang="es-CL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6446520" y="5230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Locales débiles</a:t>
            </a:r>
            <a:endParaRPr lang="es-CL" sz="1250" noProof="0" dirty="0"/>
          </a:p>
        </p:txBody>
      </p:sp>
      <p:sp>
        <p:nvSpPr>
          <p:cNvPr id="25" name="Text 23"/>
          <p:cNvSpPr/>
          <p:nvPr/>
        </p:nvSpPr>
        <p:spPr>
          <a:xfrm>
            <a:off x="644652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Divestidura de unidad deficitaria (Lautaro) — decidida; +$18M EBITDA/año</a:t>
            </a:r>
            <a:endParaRPr lang="es-CL" sz="1100" noProof="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800" noProof="0" dirty="0" err="1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Confidencial  ·  Caso de inversión — Junio 2026</a:t>
            </a:r>
            <a:endParaRPr lang="es-CL" sz="800" noProof="0" dirty="0"/>
          </a:p>
        </p:txBody>
      </p:sp>
      <p:sp>
        <p:nvSpPr>
          <p:cNvPr id="27" name="Text 25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ocurrió realmente</a:t>
            </a:r>
            <a:endParaRPr lang="es-CL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causa principal no fue falta de demanda: fue una estructura sobredimensionada frente al nuevo nivel de ventas</a:t>
            </a:r>
            <a:endParaRPr lang="es-CL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11096" cy="283464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911096" cy="109728"/>
          </a:xfrm>
          <a:prstGeom prst="rect">
            <a:avLst/>
          </a:prstGeom>
          <a:solidFill>
            <a:srgbClr val="1626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s-CL" sz="1700" noProof="0" dirty="0"/>
          </a:p>
        </p:txBody>
      </p:sp>
      <p:sp>
        <p:nvSpPr>
          <p:cNvPr id="7" name="Text 5"/>
          <p:cNvSpPr/>
          <p:nvPr/>
        </p:nvSpPr>
        <p:spPr>
          <a:xfrm>
            <a:off x="713232" y="2468880"/>
            <a:ext cx="1581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s-CL" sz="1100" noProof="0" dirty="0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Máxima complejidad operacional</a:t>
            </a:r>
            <a:endParaRPr lang="es-CL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2441448" y="265176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b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s-CL" sz="2200" noProof="0" dirty="0"/>
          </a:p>
        </p:txBody>
      </p:sp>
      <p:sp>
        <p:nvSpPr>
          <p:cNvPr id="9" name="Shape 7"/>
          <p:cNvSpPr/>
          <p:nvPr/>
        </p:nvSpPr>
        <p:spPr>
          <a:xfrm>
            <a:off x="2843784" y="1554480"/>
            <a:ext cx="1911096" cy="283464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2843784" y="1554480"/>
            <a:ext cx="1911096" cy="109728"/>
          </a:xfrm>
          <a:prstGeom prst="rect">
            <a:avLst/>
          </a:prstGeom>
          <a:solidFill>
            <a:srgbClr val="1626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3008376" y="187452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s-CL" sz="1700" noProof="0" dirty="0"/>
          </a:p>
        </p:txBody>
      </p:sp>
      <p:sp>
        <p:nvSpPr>
          <p:cNvPr id="12" name="Text 10"/>
          <p:cNvSpPr/>
          <p:nvPr/>
        </p:nvSpPr>
        <p:spPr>
          <a:xfrm>
            <a:off x="3008376" y="2468880"/>
            <a:ext cx="1581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s-CL" sz="1100" noProof="0" dirty="0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Reestructuración: cierres, finiquitos y restricción de caja</a:t>
            </a:r>
            <a:endParaRPr lang="es-CL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736592" y="265176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b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s-CL" sz="2200" noProof="0" dirty="0"/>
          </a:p>
        </p:txBody>
      </p:sp>
      <p:sp>
        <p:nvSpPr>
          <p:cNvPr id="14" name="Shape 12"/>
          <p:cNvSpPr/>
          <p:nvPr/>
        </p:nvSpPr>
        <p:spPr>
          <a:xfrm>
            <a:off x="5138928" y="1554480"/>
            <a:ext cx="1911096" cy="283464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3"/>
          <p:cNvSpPr/>
          <p:nvPr/>
        </p:nvSpPr>
        <p:spPr>
          <a:xfrm>
            <a:off x="5138928" y="1554480"/>
            <a:ext cx="1911096" cy="109728"/>
          </a:xfrm>
          <a:prstGeom prst="rect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5303520" y="187452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</a:t>
            </a:r>
            <a:endParaRPr lang="es-CL" sz="1250" noProof="0" dirty="0"/>
          </a:p>
        </p:txBody>
      </p:sp>
      <p:sp>
        <p:nvSpPr>
          <p:cNvPr id="17" name="Text 15"/>
          <p:cNvSpPr/>
          <p:nvPr/>
        </p:nvSpPr>
        <p:spPr>
          <a:xfrm>
            <a:off x="5303520" y="2468880"/>
            <a:ext cx="1581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s-CL" sz="1100" noProof="0" dirty="0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inversión comercial · quiebres · menor competitividad</a:t>
            </a:r>
            <a:endParaRPr lang="es-CL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7031736" y="265176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b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s-CL" sz="2200" noProof="0" dirty="0"/>
          </a:p>
        </p:txBody>
      </p:sp>
      <p:sp>
        <p:nvSpPr>
          <p:cNvPr id="19" name="Shape 17"/>
          <p:cNvSpPr/>
          <p:nvPr/>
        </p:nvSpPr>
        <p:spPr>
          <a:xfrm>
            <a:off x="7434072" y="1554480"/>
            <a:ext cx="1911096" cy="283464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8"/>
          <p:cNvSpPr/>
          <p:nvPr/>
        </p:nvSpPr>
        <p:spPr>
          <a:xfrm>
            <a:off x="7434072" y="1554480"/>
            <a:ext cx="1911096" cy="109728"/>
          </a:xfrm>
          <a:prstGeom prst="rect">
            <a:avLst/>
          </a:prstGeom>
          <a:solidFill>
            <a:srgbClr val="B07B1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/>
          <p:nvPr/>
        </p:nvSpPr>
        <p:spPr>
          <a:xfrm>
            <a:off x="7598664" y="187452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B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s-CL" sz="1250" noProof="0" dirty="0"/>
          </a:p>
        </p:txBody>
      </p:sp>
      <p:sp>
        <p:nvSpPr>
          <p:cNvPr id="22" name="Text 20"/>
          <p:cNvSpPr/>
          <p:nvPr/>
        </p:nvSpPr>
        <p:spPr>
          <a:xfrm>
            <a:off x="7598664" y="2468880"/>
            <a:ext cx="1581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s-CL" sz="1100" noProof="0" dirty="0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Caída de ventas + ajuste de estructura</a:t>
            </a:r>
            <a:endParaRPr lang="es-CL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9326880" y="265176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b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s-CL" sz="2200" noProof="0" dirty="0"/>
          </a:p>
        </p:txBody>
      </p:sp>
      <p:sp>
        <p:nvSpPr>
          <p:cNvPr id="24" name="Shape 22"/>
          <p:cNvSpPr/>
          <p:nvPr/>
        </p:nvSpPr>
        <p:spPr>
          <a:xfrm>
            <a:off x="9729216" y="1554480"/>
            <a:ext cx="1911096" cy="283464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Shape 23"/>
          <p:cNvSpPr/>
          <p:nvPr/>
        </p:nvSpPr>
        <p:spPr>
          <a:xfrm>
            <a:off x="9729216" y="1554480"/>
            <a:ext cx="1911096" cy="109728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4"/>
          <p:cNvSpPr/>
          <p:nvPr/>
        </p:nvSpPr>
        <p:spPr>
          <a:xfrm>
            <a:off x="9893808" y="187452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s-CL" sz="1700" noProof="0" dirty="0"/>
          </a:p>
        </p:txBody>
      </p:sp>
      <p:sp>
        <p:nvSpPr>
          <p:cNvPr id="27" name="Text 25"/>
          <p:cNvSpPr/>
          <p:nvPr/>
        </p:nvSpPr>
        <p:spPr>
          <a:xfrm>
            <a:off x="9893808" y="2468880"/>
            <a:ext cx="1581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s-CL" sz="1100" noProof="0" dirty="0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positivo</a:t>
            </a:r>
            <a:endParaRPr lang="es-CL" sz="1100" noProof="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11091672" cy="1280160"/>
          </a:xfrm>
          <a:prstGeom prst="roundRect">
            <a:avLst>
              <a:gd name="adj" fmla="val 4286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9" name="Text 27"/>
          <p:cNvSpPr/>
          <p:nvPr/>
        </p:nvSpPr>
        <p:spPr>
          <a:xfrm>
            <a:off x="914400" y="4800600"/>
            <a:ext cx="10360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s-CL" sz="135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1350" b="1" noProof="0" dirty="0" err="1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135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no perdió dinero por falta de ventas, </a:t>
            </a:r>
            <a:r>
              <a:rPr lang="es-CL" sz="13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sino porque la estructura y la complejidad crecieron más rápido que la capacidad de gestión. La reestructuración 2025–2026 cerró esa brecha y recuperó EBITDA positivo aun con ventas menores al histórico.</a:t>
            </a:r>
            <a:endParaRPr lang="es-CL" sz="1350" noProof="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800" noProof="0" dirty="0" err="1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Confidencial  ·  Caso de inversión — Junio 2026</a:t>
            </a:r>
            <a:endParaRPr lang="es-CL" sz="800" noProof="0" dirty="0"/>
          </a:p>
        </p:txBody>
      </p:sp>
      <p:sp>
        <p:nvSpPr>
          <p:cNvPr id="31" name="Text 29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16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capas de reestructuración</a:t>
            </a:r>
            <a:endParaRPr lang="es-CL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 estructura menor es sostenible — no es solo recortar personas</a:t>
            </a:r>
            <a:endParaRPr lang="es-CL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1627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kern="0" spc="10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</a:t>
            </a:r>
            <a:endParaRPr lang="es-CL" sz="1100" noProof="0" dirty="0"/>
          </a:p>
        </p:txBody>
      </p:sp>
      <p:sp>
        <p:nvSpPr>
          <p:cNvPr id="6" name="Text 4"/>
          <p:cNvSpPr/>
          <p:nvPr/>
        </p:nvSpPr>
        <p:spPr>
          <a:xfrm>
            <a:off x="3749040" y="1627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kern="0" spc="100" noProof="0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s-CL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kern="0" spc="100" noProof="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s-CL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914400" y="1993392"/>
            <a:ext cx="10360152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de locales</a:t>
            </a:r>
            <a:endParaRPr lang="es-CL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3749040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Diseñada para mayor nivel de venta</a:t>
            </a:r>
            <a:endParaRPr lang="es-CL" sz="115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Adaptada al volumen actual</a:t>
            </a:r>
            <a:endParaRPr lang="es-CL" sz="1150" noProof="0" dirty="0"/>
          </a:p>
        </p:txBody>
      </p:sp>
      <p:sp>
        <p:nvSpPr>
          <p:cNvPr id="12" name="Shape 10"/>
          <p:cNvSpPr/>
          <p:nvPr/>
        </p:nvSpPr>
        <p:spPr>
          <a:xfrm>
            <a:off x="914400" y="2715768"/>
            <a:ext cx="10360152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914400" y="2770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</a:t>
            </a:r>
            <a:endParaRPr lang="es-CL" sz="1250" noProof="0" dirty="0"/>
          </a:p>
        </p:txBody>
      </p:sp>
      <p:sp>
        <p:nvSpPr>
          <p:cNvPr id="14" name="Text 12"/>
          <p:cNvSpPr/>
          <p:nvPr/>
        </p:nvSpPr>
        <p:spPr>
          <a:xfrm>
            <a:off x="3749040" y="2770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intensivos en personas</a:t>
            </a:r>
            <a:endParaRPr lang="es-CL" sz="1150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0" y="27706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Estandarizada · gestión por excepción</a:t>
            </a:r>
            <a:endParaRPr lang="es-CL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914400" y="3337560"/>
            <a:ext cx="10360152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914400" y="3392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y documentos</a:t>
            </a:r>
            <a:endParaRPr lang="es-CL" sz="1250" noProof="0" dirty="0"/>
          </a:p>
        </p:txBody>
      </p:sp>
      <p:sp>
        <p:nvSpPr>
          <p:cNvPr id="18" name="Text 16"/>
          <p:cNvSpPr/>
          <p:nvPr/>
        </p:nvSpPr>
        <p:spPr>
          <a:xfrm>
            <a:off x="3749040" y="33924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manual intensivo</a:t>
            </a:r>
            <a:endParaRPr lang="es-CL" sz="1150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0" y="33924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automatizado y validación por excepción</a:t>
            </a:r>
            <a:endParaRPr lang="es-CL" sz="1150" noProof="0" dirty="0"/>
          </a:p>
        </p:txBody>
      </p:sp>
      <p:sp>
        <p:nvSpPr>
          <p:cNvPr id="20" name="Shape 18"/>
          <p:cNvSpPr/>
          <p:nvPr/>
        </p:nvSpPr>
        <p:spPr>
          <a:xfrm>
            <a:off x="914400" y="3959352"/>
            <a:ext cx="10360152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/>
          <p:nvPr/>
        </p:nvSpPr>
        <p:spPr>
          <a:xfrm>
            <a:off x="914400" y="40142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</a:t>
            </a:r>
            <a:endParaRPr lang="es-CL" sz="1250" noProof="0" dirty="0"/>
          </a:p>
        </p:txBody>
      </p:sp>
      <p:sp>
        <p:nvSpPr>
          <p:cNvPr id="22" name="Text 20"/>
          <p:cNvSpPr/>
          <p:nvPr/>
        </p:nvSpPr>
        <p:spPr>
          <a:xfrm>
            <a:off x="3749040" y="40142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</a:t>
            </a:r>
            <a:endParaRPr lang="es-CL" sz="1150" noProof="0" dirty="0"/>
          </a:p>
        </p:txBody>
      </p:sp>
      <p:sp>
        <p:nvSpPr>
          <p:cNvPr id="23" name="Text 21"/>
          <p:cNvSpPr/>
          <p:nvPr/>
        </p:nvSpPr>
        <p:spPr>
          <a:xfrm>
            <a:off x="7772400" y="40142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Planificada por datos</a:t>
            </a:r>
            <a:endParaRPr lang="es-CL" sz="1150" noProof="0" dirty="0"/>
          </a:p>
        </p:txBody>
      </p:sp>
      <p:sp>
        <p:nvSpPr>
          <p:cNvPr id="24" name="Shape 22"/>
          <p:cNvSpPr/>
          <p:nvPr/>
        </p:nvSpPr>
        <p:spPr>
          <a:xfrm>
            <a:off x="914400" y="4581144"/>
            <a:ext cx="10360152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 23"/>
          <p:cNvSpPr/>
          <p:nvPr/>
        </p:nvSpPr>
        <p:spPr>
          <a:xfrm>
            <a:off x="914400" y="4636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s-CL" sz="1250" noProof="0" dirty="0"/>
          </a:p>
        </p:txBody>
      </p:sp>
      <p:sp>
        <p:nvSpPr>
          <p:cNvPr id="26" name="Text 24"/>
          <p:cNvSpPr/>
          <p:nvPr/>
        </p:nvSpPr>
        <p:spPr>
          <a:xfrm>
            <a:off x="3749040" y="46360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Posterior</a:t>
            </a:r>
            <a:endParaRPr lang="es-CL" sz="1150" noProof="0" dirty="0"/>
          </a:p>
        </p:txBody>
      </p:sp>
      <p:sp>
        <p:nvSpPr>
          <p:cNvPr id="27" name="Text 25"/>
          <p:cNvSpPr/>
          <p:nvPr/>
        </p:nvSpPr>
        <p:spPr>
          <a:xfrm>
            <a:off x="7772400" y="46360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1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Permanente</a:t>
            </a:r>
            <a:endParaRPr lang="es-CL" sz="1150" noProof="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9" name="Text 27"/>
          <p:cNvSpPr/>
          <p:nvPr/>
        </p:nvSpPr>
        <p:spPr>
          <a:xfrm>
            <a:off x="914400" y="553212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s-CL" sz="13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La reducción de costos no es solo recortar personas. </a:t>
            </a:r>
            <a:r>
              <a:rPr lang="es-CL" sz="13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sostiene en procesos optimizados que permiten operar con una estructura menor — de forma sostenible.</a:t>
            </a:r>
            <a:endParaRPr lang="es-CL" sz="1300" noProof="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800" noProof="0" dirty="0" err="1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Confidencial  ·  Caso de inversión — Junio 2026</a:t>
            </a:r>
            <a:endParaRPr lang="es-CL" sz="800" noProof="0" dirty="0"/>
          </a:p>
        </p:txBody>
      </p:sp>
      <p:sp>
        <p:nvSpPr>
          <p:cNvPr id="31" name="Text 29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productividad, no ventas</a:t>
            </a:r>
            <a:endParaRPr lang="es-CL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El modelo ya es rentable en torno a ~$5.500M; se fortalece con ~$6.000–6.500M — la recuperación comercial es </a:t>
            </a:r>
            <a:r>
              <a:rPr lang="es-CL" sz="1250" noProof="0" dirty="0" err="1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</a:t>
            </a: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la tesis</a:t>
            </a:r>
            <a:endParaRPr lang="es-CL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290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749808" y="156362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Reposición de surtido crítico</a:t>
            </a:r>
            <a:endParaRPr lang="es-CL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87452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+3–5% recuperables</a:t>
            </a:r>
            <a:endParaRPr lang="es-CL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224028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CL" sz="10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Recuperación en categorías afectadas por quiebres. El análisis detecta una oportunidad teórica mayor; captura conservadora por sustitución, canibalización y </a:t>
            </a:r>
            <a:r>
              <a:rPr lang="es-CL" sz="1000" noProof="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</a:t>
            </a:r>
            <a:r>
              <a:rPr lang="es-CL" sz="10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s-CL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4142232" y="1417320"/>
            <a:ext cx="34290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4343400" y="156362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 de impulso</a:t>
            </a:r>
            <a:endParaRPr lang="es-CL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4343400" y="187452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+$35M margen / año</a:t>
            </a:r>
            <a:endParaRPr lang="es-CL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4343400" y="224028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CL" sz="10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Restituir mueble de caja (45% margen, lo más rentable por m²). Horizonte 0–6 meses.</a:t>
            </a:r>
            <a:endParaRPr lang="es-CL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7735824" y="1417320"/>
            <a:ext cx="34290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7936992" y="156362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 de proveedores</a:t>
            </a:r>
            <a:endParaRPr lang="es-CL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7936992" y="187452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EBITDA base</a:t>
            </a:r>
            <a:endParaRPr lang="es-CL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7936992" y="224028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CL" sz="10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CCU, </a:t>
            </a:r>
            <a:r>
              <a:rPr lang="es-CL" sz="1000" noProof="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Embonor</a:t>
            </a:r>
            <a:r>
              <a:rPr lang="es-CL" sz="10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y </a:t>
            </a:r>
            <a:r>
              <a:rPr lang="es-CL" sz="1000" noProof="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Evercrisp</a:t>
            </a:r>
            <a:r>
              <a:rPr lang="es-CL" sz="10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ya incluido en el EBITDA (2% del margen). Se asegura vía compras automatizadas; no es upside incremental.</a:t>
            </a:r>
            <a:endParaRPr lang="es-CL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34290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749808" y="339242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Extinción TGR</a:t>
            </a:r>
            <a:endParaRPr lang="es-CL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749808" y="370332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$33M condonación</a:t>
            </a:r>
            <a:endParaRPr lang="es-CL" sz="1600" noProof="0" dirty="0"/>
          </a:p>
        </p:txBody>
      </p:sp>
      <p:sp>
        <p:nvSpPr>
          <p:cNvPr id="19" name="Text 17"/>
          <p:cNvSpPr/>
          <p:nvPr/>
        </p:nvSpPr>
        <p:spPr>
          <a:xfrm>
            <a:off x="749808" y="406908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CL" sz="10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Prepago del convenio ($170M) con condonación; libera el $4M/mes y saca al fisco del balance.</a:t>
            </a:r>
            <a:endParaRPr lang="es-CL" sz="1000" noProof="0" dirty="0"/>
          </a:p>
        </p:txBody>
      </p:sp>
      <p:sp>
        <p:nvSpPr>
          <p:cNvPr id="20" name="Shape 18"/>
          <p:cNvSpPr/>
          <p:nvPr/>
        </p:nvSpPr>
        <p:spPr>
          <a:xfrm>
            <a:off x="4142232" y="3246120"/>
            <a:ext cx="34290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/>
          <p:nvPr/>
        </p:nvSpPr>
        <p:spPr>
          <a:xfrm>
            <a:off x="4343400" y="339242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financiero</a:t>
            </a:r>
            <a:endParaRPr lang="es-CL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4343400" y="370332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−$55M / año </a:t>
            </a:r>
            <a:r>
              <a:rPr lang="es-CL" sz="1600" b="1" noProof="0" dirty="0" err="1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s-CL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4343400" y="406908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CL" sz="10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automatizados de control financiero, reposición y margen por SKU.</a:t>
            </a:r>
            <a:endParaRPr lang="es-CL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 23"/>
          <p:cNvSpPr/>
          <p:nvPr/>
        </p:nvSpPr>
        <p:spPr>
          <a:xfrm>
            <a:off x="914400" y="5074920"/>
            <a:ext cx="103601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s-CL" sz="125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Recuperamos productividad, no ventas. </a:t>
            </a:r>
            <a:r>
              <a:rPr lang="es-CL" sz="12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El negocio ya entrega EBITDA positivo con ventas bajo el histórico; estas palancas lo consolidan. Cualquier recuperación comercial es </a:t>
            </a:r>
            <a:r>
              <a:rPr lang="es-CL" sz="12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</a:t>
            </a:r>
            <a:r>
              <a:rPr lang="es-CL" sz="12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s-CL" sz="1250" noProof="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800" noProof="0" dirty="0" err="1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Confidencial  ·  Caso de inversión — Junio 2026</a:t>
            </a:r>
            <a:endParaRPr lang="es-CL" sz="800" noProof="0" dirty="0"/>
          </a:p>
        </p:txBody>
      </p:sp>
      <p:sp>
        <p:nvSpPr>
          <p:cNvPr id="27" name="Text 25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Lautaro: disciplina de capital</a:t>
            </a:r>
            <a:endParaRPr lang="es-CL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estamos enamorados de los locales — cada peso va donde rinde</a:t>
            </a:r>
            <a:endParaRPr lang="es-CL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50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LOCAL, EN NÚMEROS (anual)</a:t>
            </a:r>
            <a:endParaRPr lang="es-CL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bruta</a:t>
            </a:r>
            <a:endParaRPr lang="es-CL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4206240" y="2103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3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$360M</a:t>
            </a:r>
            <a:endParaRPr lang="es-CL" sz="1350" noProof="0" dirty="0"/>
          </a:p>
        </p:txBody>
      </p:sp>
      <p:sp>
        <p:nvSpPr>
          <p:cNvPr id="8" name="Shape 6"/>
          <p:cNvSpPr/>
          <p:nvPr/>
        </p:nvSpPr>
        <p:spPr>
          <a:xfrm>
            <a:off x="868680" y="2560320"/>
            <a:ext cx="484632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868680" y="26700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neta estimada</a:t>
            </a:r>
            <a:endParaRPr lang="es-CL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4206240" y="26700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3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$313M</a:t>
            </a:r>
            <a:endParaRPr lang="es-CL" sz="1350" noProof="0" dirty="0"/>
          </a:p>
        </p:txBody>
      </p:sp>
      <p:sp>
        <p:nvSpPr>
          <p:cNvPr id="11" name="Shape 9"/>
          <p:cNvSpPr/>
          <p:nvPr/>
        </p:nvSpPr>
        <p:spPr>
          <a:xfrm>
            <a:off x="868680" y="3127248"/>
            <a:ext cx="484632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323697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Margen económico</a:t>
            </a:r>
            <a:endParaRPr lang="es-CL" sz="1250" noProof="0" dirty="0"/>
          </a:p>
        </p:txBody>
      </p:sp>
      <p:sp>
        <p:nvSpPr>
          <p:cNvPr id="13" name="Text 11"/>
          <p:cNvSpPr/>
          <p:nvPr/>
        </p:nvSpPr>
        <p:spPr>
          <a:xfrm>
            <a:off x="4206240" y="323697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3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$83M</a:t>
            </a:r>
            <a:endParaRPr lang="es-CL" sz="1350" noProof="0" dirty="0"/>
          </a:p>
        </p:txBody>
      </p:sp>
      <p:sp>
        <p:nvSpPr>
          <p:cNvPr id="14" name="Shape 12"/>
          <p:cNvSpPr/>
          <p:nvPr/>
        </p:nvSpPr>
        <p:spPr>
          <a:xfrm>
            <a:off x="868680" y="3694176"/>
            <a:ext cx="484632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/>
          <p:nvPr/>
        </p:nvSpPr>
        <p:spPr>
          <a:xfrm>
            <a:off x="868680" y="38039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(–) OPEX del local</a:t>
            </a:r>
            <a:endParaRPr lang="es-CL" sz="1250" noProof="0" dirty="0"/>
          </a:p>
        </p:txBody>
      </p:sp>
      <p:sp>
        <p:nvSpPr>
          <p:cNvPr id="16" name="Text 14"/>
          <p:cNvSpPr/>
          <p:nvPr/>
        </p:nvSpPr>
        <p:spPr>
          <a:xfrm>
            <a:off x="4206240" y="380390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3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($101M)</a:t>
            </a:r>
            <a:endParaRPr lang="es-CL" sz="1350" noProof="0" dirty="0"/>
          </a:p>
        </p:txBody>
      </p:sp>
      <p:sp>
        <p:nvSpPr>
          <p:cNvPr id="17" name="Shape 15"/>
          <p:cNvSpPr/>
          <p:nvPr/>
        </p:nvSpPr>
        <p:spPr>
          <a:xfrm>
            <a:off x="868680" y="4261104"/>
            <a:ext cx="484632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/>
          <p:cNvSpPr/>
          <p:nvPr/>
        </p:nvSpPr>
        <p:spPr>
          <a:xfrm>
            <a:off x="868680" y="43708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noProof="0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EBITDA del local</a:t>
            </a:r>
            <a:endParaRPr lang="es-CL" sz="1250" noProof="0" dirty="0"/>
          </a:p>
        </p:txBody>
      </p:sp>
      <p:sp>
        <p:nvSpPr>
          <p:cNvPr id="19" name="Text 17"/>
          <p:cNvSpPr/>
          <p:nvPr/>
        </p:nvSpPr>
        <p:spPr>
          <a:xfrm>
            <a:off x="4206240" y="437083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350" b="1" noProof="0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−$18M</a:t>
            </a:r>
            <a:endParaRPr lang="es-CL" sz="1350" noProof="0" dirty="0"/>
          </a:p>
        </p:txBody>
      </p:sp>
      <p:sp>
        <p:nvSpPr>
          <p:cNvPr id="20" name="Text 18"/>
          <p:cNvSpPr/>
          <p:nvPr/>
        </p:nvSpPr>
        <p:spPr>
          <a:xfrm>
            <a:off x="868680" y="4709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i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calculado sobre venta neta. Opera bajo su punto de equilibrio: destruye EBITDA.</a:t>
            </a:r>
            <a:endParaRPr lang="es-CL" sz="1000" noProof="0" dirty="0"/>
          </a:p>
        </p:txBody>
      </p:sp>
      <p:sp>
        <p:nvSpPr>
          <p:cNvPr id="21" name="Shape 19"/>
          <p:cNvSpPr/>
          <p:nvPr/>
        </p:nvSpPr>
        <p:spPr>
          <a:xfrm>
            <a:off x="6172200" y="1463040"/>
            <a:ext cx="5440680" cy="3657600"/>
          </a:xfrm>
          <a:prstGeom prst="roundRect">
            <a:avLst>
              <a:gd name="adj" fmla="val 1500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/>
          <p:cNvSpPr/>
          <p:nvPr/>
        </p:nvSpPr>
        <p:spPr>
          <a:xfrm>
            <a:off x="6492240" y="1664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00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DIVESTIDURA — DECIDIDA</a:t>
            </a:r>
            <a:endParaRPr lang="es-CL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649224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decidida — en ejecución</a:t>
            </a:r>
            <a:endParaRPr lang="es-CL" sz="2200" noProof="0" dirty="0"/>
          </a:p>
        </p:txBody>
      </p:sp>
      <p:sp>
        <p:nvSpPr>
          <p:cNvPr id="24" name="Text 22"/>
          <p:cNvSpPr/>
          <p:nvPr/>
        </p:nvSpPr>
        <p:spPr>
          <a:xfrm>
            <a:off x="6492240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CL" sz="11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de venta (derecho de llave + activo)</a:t>
            </a:r>
            <a:endParaRPr lang="es-CL" sz="1150" noProof="0" dirty="0"/>
          </a:p>
        </p:txBody>
      </p:sp>
      <p:sp>
        <p:nvSpPr>
          <p:cNvPr id="25" name="Text 23"/>
          <p:cNvSpPr/>
          <p:nvPr/>
        </p:nvSpPr>
        <p:spPr>
          <a:xfrm>
            <a:off x="987552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4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$60M</a:t>
            </a:r>
            <a:endParaRPr lang="es-CL" sz="1400" noProof="0" dirty="0"/>
          </a:p>
        </p:txBody>
      </p:sp>
      <p:sp>
        <p:nvSpPr>
          <p:cNvPr id="26" name="Text 24"/>
          <p:cNvSpPr/>
          <p:nvPr/>
        </p:nvSpPr>
        <p:spPr>
          <a:xfrm>
            <a:off x="6492240" y="3264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CL" sz="11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Efecto en EBITDA al cerrar</a:t>
            </a:r>
            <a:endParaRPr lang="es-CL" sz="1150" noProof="0" dirty="0"/>
          </a:p>
        </p:txBody>
      </p:sp>
      <p:sp>
        <p:nvSpPr>
          <p:cNvPr id="27" name="Text 25"/>
          <p:cNvSpPr/>
          <p:nvPr/>
        </p:nvSpPr>
        <p:spPr>
          <a:xfrm>
            <a:off x="9875520" y="32644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4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+$1,5M/mes</a:t>
            </a:r>
            <a:endParaRPr lang="es-CL" sz="1400" noProof="0" dirty="0"/>
          </a:p>
        </p:txBody>
      </p:sp>
      <p:sp>
        <p:nvSpPr>
          <p:cNvPr id="28" name="Text 26"/>
          <p:cNvSpPr/>
          <p:nvPr/>
        </p:nvSpPr>
        <p:spPr>
          <a:xfrm>
            <a:off x="6492240" y="38313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CL" sz="11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liberado</a:t>
            </a:r>
            <a:endParaRPr lang="es-CL" sz="1150" noProof="0" dirty="0"/>
          </a:p>
        </p:txBody>
      </p:sp>
      <p:sp>
        <p:nvSpPr>
          <p:cNvPr id="29" name="Text 27"/>
          <p:cNvSpPr/>
          <p:nvPr/>
        </p:nvSpPr>
        <p:spPr>
          <a:xfrm>
            <a:off x="9875520" y="38313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4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$60M</a:t>
            </a:r>
            <a:endParaRPr lang="es-CL" sz="1400" noProof="0" dirty="0"/>
          </a:p>
        </p:txBody>
      </p:sp>
      <p:sp>
        <p:nvSpPr>
          <p:cNvPr id="30" name="Text 28"/>
          <p:cNvSpPr/>
          <p:nvPr/>
        </p:nvSpPr>
        <p:spPr>
          <a:xfrm>
            <a:off x="6492240" y="4526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CL" sz="1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Divestidura decidida de un local que destruye EBITDA. </a:t>
            </a:r>
            <a:r>
              <a:rPr lang="es-CL" sz="110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Pro-forma ex-Lautaro: EBITDA 2026 sube de $236M a ~$254M (+$18M) y ventas netas a ~$5.189M. Libera capital y reduce complejidad.</a:t>
            </a:r>
            <a:endParaRPr lang="es-CL" sz="1100" noProof="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800" noProof="0" dirty="0" err="1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Confidencial  ·  Caso de inversión — Junio 2026</a:t>
            </a:r>
            <a:endParaRPr lang="es-CL" sz="800" noProof="0" dirty="0"/>
          </a:p>
        </p:txBody>
      </p:sp>
      <p:sp>
        <p:nvSpPr>
          <p:cNvPr id="32" name="Text 30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Recapitalización del balance — $400M</a:t>
            </a:r>
            <a:endParaRPr lang="es-CL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Quirúrgico: extingue pasivos y normaliza proveedores — no financia operación ni pérdidas</a:t>
            </a:r>
            <a:endParaRPr lang="es-CL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804672" y="1737360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804672" y="17373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$170M</a:t>
            </a:r>
            <a:endParaRPr lang="es-CL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2286000" y="17373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Extinción TGR</a:t>
            </a:r>
            <a:endParaRPr lang="es-CL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804672" y="2432304"/>
            <a:ext cx="3008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CL" sz="11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anticipado del convenio ($203M nominal); condonación ~$33M. Saca al fisco del balance.</a:t>
            </a:r>
            <a:r>
              <a:rPr lang="es-CL" sz="1100" noProof="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s-CL" sz="11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s-CL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4242816" y="146304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4498848" y="1737360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1626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4498848" y="17373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$210M</a:t>
            </a:r>
            <a:endParaRPr lang="es-CL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5980176" y="17373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Proveedores</a:t>
            </a:r>
            <a:endParaRPr lang="es-CL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4498848" y="2432304"/>
            <a:ext cx="3008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CL" sz="11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 el crédito comercial y corta los quiebres; el crédito restablecido refinancia el inventario.</a:t>
            </a:r>
            <a:endParaRPr lang="es-CL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7936992" y="146304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3"/>
          <p:cNvSpPr/>
          <p:nvPr/>
        </p:nvSpPr>
        <p:spPr>
          <a:xfrm>
            <a:off x="8193024" y="1737360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2E7D52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8193024" y="17373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$20M</a:t>
            </a:r>
            <a:endParaRPr lang="es-CL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9674352" y="17373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Finiquitos</a:t>
            </a:r>
            <a:endParaRPr lang="es-CL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8193024" y="2432304"/>
            <a:ext cx="3008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CL" sz="110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los compromisos laborales pendientes de la reestructuración.</a:t>
            </a:r>
            <a:endParaRPr lang="es-CL" sz="1100" noProof="0" dirty="0"/>
          </a:p>
        </p:txBody>
      </p:sp>
      <p:sp>
        <p:nvSpPr>
          <p:cNvPr id="29" name="Shape 27"/>
          <p:cNvSpPr/>
          <p:nvPr/>
        </p:nvSpPr>
        <p:spPr>
          <a:xfrm>
            <a:off x="548640" y="571500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Text 28"/>
          <p:cNvSpPr/>
          <p:nvPr/>
        </p:nvSpPr>
        <p:spPr>
          <a:xfrm>
            <a:off x="868680" y="5715000"/>
            <a:ext cx="10451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$400M</a:t>
            </a:r>
            <a:r>
              <a:rPr lang="es-CL" sz="13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baja la deuda neta de ~$1.021M a ~$588M y captura ~$33M de condonación TGR. El aporte se despliega completo (sin reserva de caja): el crédito de proveedores recuperado actúa como working capital.</a:t>
            </a:r>
            <a:endParaRPr lang="es-CL" sz="1300" noProof="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800" noProof="0" dirty="0" err="1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Confidencial  ·  Caso de inversión — Junio 2026</a:t>
            </a:r>
            <a:endParaRPr lang="es-CL" sz="800" noProof="0" dirty="0"/>
          </a:p>
        </p:txBody>
      </p:sp>
      <p:sp>
        <p:nvSpPr>
          <p:cNvPr id="32" name="Text 30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Valorización</a:t>
            </a:r>
            <a:endParaRPr lang="es-CL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el equity contable es ~$0; el valor está en el forward, sin deuda</a:t>
            </a:r>
            <a:endParaRPr lang="es-CL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841248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00" noProof="0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— RECAPITALIZACIÓN</a:t>
            </a:r>
            <a:endParaRPr lang="es-CL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841248" y="2011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42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$400M</a:t>
            </a:r>
            <a:endParaRPr lang="es-CL" sz="4200" noProof="0" dirty="0"/>
          </a:p>
        </p:txBody>
      </p:sp>
      <p:sp>
        <p:nvSpPr>
          <p:cNvPr id="7" name="Text 5"/>
          <p:cNvSpPr/>
          <p:nvPr/>
        </p:nvSpPr>
        <p:spPr>
          <a:xfrm>
            <a:off x="841248" y="2834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aporte como </a:t>
            </a:r>
            <a:r>
              <a:rPr lang="es-CL" sz="1150" noProof="0" dirty="0" err="1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preferente</a:t>
            </a:r>
            <a:r>
              <a:rPr lang="es-CL" sz="11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recapitaliza el balance; el equity contable hoy es negativo</a:t>
            </a:r>
            <a:endParaRPr lang="es-CL" sz="1150" noProof="0" dirty="0"/>
          </a:p>
        </p:txBody>
      </p:sp>
      <p:sp>
        <p:nvSpPr>
          <p:cNvPr id="8" name="Text 6"/>
          <p:cNvSpPr/>
          <p:nvPr/>
        </p:nvSpPr>
        <p:spPr>
          <a:xfrm>
            <a:off x="841248" y="32918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CL" sz="1150" b="1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No se vende a múltiplo de hoy: el patrimonio contable es negativo. El socio entra con capital preferente </a:t>
            </a:r>
            <a:r>
              <a:rPr lang="es-CL" sz="1150" b="1" noProof="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protegido</a:t>
            </a:r>
            <a:r>
              <a:rPr lang="es-CL" sz="1150" b="1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. </a:t>
            </a:r>
            <a:r>
              <a:rPr lang="es-CL" sz="11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El valor se mide </a:t>
            </a:r>
            <a:r>
              <a:rPr lang="es-CL" sz="1150" noProof="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r>
              <a:rPr lang="es-CL" sz="1150" noProof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sin deuda: a medida que se extingue el banco, el equity converge al valor de empresa.</a:t>
            </a:r>
            <a:endParaRPr lang="es-CL" sz="1150" noProof="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6464808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00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ORDENADA — 2032</a:t>
            </a:r>
            <a:endParaRPr lang="es-CL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6464808" y="2011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4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~$2.090M</a:t>
            </a:r>
            <a:endParaRPr lang="es-CL" sz="4200" noProof="0" dirty="0"/>
          </a:p>
        </p:txBody>
      </p:sp>
      <p:sp>
        <p:nvSpPr>
          <p:cNvPr id="12" name="Text 10"/>
          <p:cNvSpPr/>
          <p:nvPr/>
        </p:nvSpPr>
        <p:spPr>
          <a:xfrm>
            <a:off x="6464808" y="2834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noProof="0" dirty="0" err="1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</a:t>
            </a:r>
            <a:r>
              <a:rPr lang="es-CL" sz="11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sin deuda — EBITDA $418M × 5x</a:t>
            </a:r>
            <a:endParaRPr lang="es-CL" sz="1150" noProof="0" dirty="0"/>
          </a:p>
        </p:txBody>
      </p:sp>
      <p:sp>
        <p:nvSpPr>
          <p:cNvPr id="13" name="Text 11"/>
          <p:cNvSpPr/>
          <p:nvPr/>
        </p:nvSpPr>
        <p:spPr>
          <a:xfrm>
            <a:off x="6464808" y="32918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CL" sz="115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El 40% del socio valdría ~$836M </a:t>
            </a:r>
            <a:r>
              <a:rPr lang="es-CL" sz="11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los $400M aportados — además del retorno preferente y los dividendos en el camino.</a:t>
            </a:r>
            <a:endParaRPr lang="es-CL" sz="115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/>
          <p:nvPr/>
        </p:nvSpPr>
        <p:spPr>
          <a:xfrm>
            <a:off x="86868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b="1" kern="0" spc="50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SENSIBILIDAD DE VALOR   ·   Equity forward (sin deuda) = EBITDA × múltiplo</a:t>
            </a:r>
            <a:endParaRPr lang="es-CL" sz="1150" noProof="0" dirty="0"/>
          </a:p>
        </p:txBody>
      </p:sp>
      <p:sp>
        <p:nvSpPr>
          <p:cNvPr id="16" name="Text 14"/>
          <p:cNvSpPr/>
          <p:nvPr/>
        </p:nvSpPr>
        <p:spPr>
          <a:xfrm>
            <a:off x="8046720" y="468172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i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Escenarios forward </a:t>
            </a:r>
            <a:r>
              <a:rPr lang="es-CL" sz="950" i="1" noProof="0" dirty="0" err="1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post-normalización</a:t>
            </a:r>
            <a:endParaRPr lang="es-CL" sz="950" noProof="0" dirty="0"/>
          </a:p>
        </p:txBody>
      </p:sp>
      <p:sp>
        <p:nvSpPr>
          <p:cNvPr id="17" name="Text 15"/>
          <p:cNvSpPr/>
          <p:nvPr/>
        </p:nvSpPr>
        <p:spPr>
          <a:xfrm>
            <a:off x="914400" y="5047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</a:t>
            </a:r>
            <a:endParaRPr lang="es-CL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0" y="5047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b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s-CL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7498080" y="5047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b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</a:t>
            </a:r>
            <a:endParaRPr lang="es-CL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9418320" y="5047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000" b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forward</a:t>
            </a:r>
            <a:endParaRPr lang="es-CL" sz="1000" noProof="0" dirty="0"/>
          </a:p>
        </p:txBody>
      </p:sp>
      <p:sp>
        <p:nvSpPr>
          <p:cNvPr id="21" name="Shape 19"/>
          <p:cNvSpPr/>
          <p:nvPr/>
        </p:nvSpPr>
        <p:spPr>
          <a:xfrm>
            <a:off x="914400" y="5321808"/>
            <a:ext cx="10360152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/>
          <p:cNvSpPr/>
          <p:nvPr/>
        </p:nvSpPr>
        <p:spPr>
          <a:xfrm>
            <a:off x="914400" y="5321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Conservador</a:t>
            </a:r>
            <a:endParaRPr lang="es-CL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0" y="5321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$254M</a:t>
            </a:r>
            <a:endParaRPr lang="es-CL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7498080" y="5321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</a:t>
            </a:r>
            <a:endParaRPr lang="es-CL" sz="1200" noProof="0" dirty="0"/>
          </a:p>
        </p:txBody>
      </p:sp>
      <p:sp>
        <p:nvSpPr>
          <p:cNvPr id="25" name="Text 23"/>
          <p:cNvSpPr/>
          <p:nvPr/>
        </p:nvSpPr>
        <p:spPr>
          <a:xfrm>
            <a:off x="9280301" y="5321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200" b="1" noProof="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$1.270M</a:t>
            </a:r>
            <a:endParaRPr lang="es-CL" sz="1200" noProof="0" dirty="0"/>
          </a:p>
        </p:txBody>
      </p:sp>
      <p:sp>
        <p:nvSpPr>
          <p:cNvPr id="26" name="Text 24"/>
          <p:cNvSpPr/>
          <p:nvPr/>
        </p:nvSpPr>
        <p:spPr>
          <a:xfrm>
            <a:off x="914400" y="5596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s-CL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4572000" y="5596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$327M</a:t>
            </a:r>
            <a:endParaRPr lang="es-CL" sz="1200" noProof="0" dirty="0"/>
          </a:p>
        </p:txBody>
      </p:sp>
      <p:sp>
        <p:nvSpPr>
          <p:cNvPr id="28" name="Text 26"/>
          <p:cNvSpPr/>
          <p:nvPr/>
        </p:nvSpPr>
        <p:spPr>
          <a:xfrm>
            <a:off x="7498080" y="5596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</a:t>
            </a:r>
            <a:endParaRPr lang="es-CL" sz="1200" noProof="0" dirty="0"/>
          </a:p>
        </p:txBody>
      </p:sp>
      <p:sp>
        <p:nvSpPr>
          <p:cNvPr id="29" name="Text 27"/>
          <p:cNvSpPr/>
          <p:nvPr/>
        </p:nvSpPr>
        <p:spPr>
          <a:xfrm>
            <a:off x="9280301" y="5596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200" b="1" noProof="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$1.635M</a:t>
            </a:r>
            <a:endParaRPr lang="es-CL" sz="1200" noProof="0" dirty="0"/>
          </a:p>
        </p:txBody>
      </p:sp>
      <p:sp>
        <p:nvSpPr>
          <p:cNvPr id="30" name="Text 28"/>
          <p:cNvSpPr/>
          <p:nvPr/>
        </p:nvSpPr>
        <p:spPr>
          <a:xfrm>
            <a:off x="914400" y="5870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Ordenado</a:t>
            </a:r>
            <a:endParaRPr lang="es-CL" sz="1200" noProof="0" dirty="0"/>
          </a:p>
        </p:txBody>
      </p:sp>
      <p:sp>
        <p:nvSpPr>
          <p:cNvPr id="31" name="Text 29"/>
          <p:cNvSpPr/>
          <p:nvPr/>
        </p:nvSpPr>
        <p:spPr>
          <a:xfrm>
            <a:off x="4572000" y="5870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$418M</a:t>
            </a:r>
            <a:endParaRPr lang="es-CL" sz="1200" noProof="0" dirty="0"/>
          </a:p>
        </p:txBody>
      </p:sp>
      <p:sp>
        <p:nvSpPr>
          <p:cNvPr id="32" name="Text 30"/>
          <p:cNvSpPr/>
          <p:nvPr/>
        </p:nvSpPr>
        <p:spPr>
          <a:xfrm>
            <a:off x="7498080" y="5870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</a:t>
            </a:r>
            <a:endParaRPr lang="es-CL" sz="1200" noProof="0" dirty="0"/>
          </a:p>
        </p:txBody>
      </p:sp>
      <p:sp>
        <p:nvSpPr>
          <p:cNvPr id="33" name="Text 31"/>
          <p:cNvSpPr/>
          <p:nvPr/>
        </p:nvSpPr>
        <p:spPr>
          <a:xfrm>
            <a:off x="9280301" y="58704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200" b="1" noProof="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$2.090M</a:t>
            </a:r>
            <a:endParaRPr lang="es-CL" sz="1200" noProof="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800" noProof="0" dirty="0" err="1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Confidencial  ·  Caso de inversión — Junio 2026</a:t>
            </a:r>
            <a:endParaRPr lang="es-CL" sz="800" noProof="0" dirty="0"/>
          </a:p>
        </p:txBody>
      </p:sp>
      <p:sp>
        <p:nvSpPr>
          <p:cNvPr id="35" name="Text 33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la oferta</a:t>
            </a:r>
            <a:endParaRPr lang="es-CL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recomendada: socio con retorno preferente (B) — protege al socio y muestra alineación</a:t>
            </a:r>
            <a:endParaRPr lang="es-CL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822960" y="1810512"/>
            <a:ext cx="530352" cy="530352"/>
          </a:xfrm>
          <a:prstGeom prst="ellipse">
            <a:avLst/>
          </a:prstGeom>
          <a:solidFill>
            <a:srgbClr val="1626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10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s-CL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1463040" y="18105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por participación</a:t>
            </a:r>
            <a:endParaRPr lang="es-CL" sz="1350" noProof="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297180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55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$400M → 40%</a:t>
            </a:r>
            <a:endParaRPr lang="es-CL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150" noProof="0" dirty="0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Aumento de capital directo. El socio entra como dueño del 40%, con dividendos </a:t>
            </a:r>
            <a:r>
              <a:rPr lang="es-CL" sz="1150" noProof="0" dirty="0" err="1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pro-rata</a:t>
            </a:r>
            <a:r>
              <a:rPr lang="es-CL" sz="1150" noProof="0" dirty="0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y plusvalía sobre su participación.</a:t>
            </a:r>
            <a:endParaRPr lang="es-CL" sz="1150" noProof="0" dirty="0"/>
          </a:p>
        </p:txBody>
      </p:sp>
      <p:sp>
        <p:nvSpPr>
          <p:cNvPr id="11" name="Shape 9"/>
          <p:cNvSpPr/>
          <p:nvPr/>
        </p:nvSpPr>
        <p:spPr>
          <a:xfrm>
            <a:off x="822960" y="4956048"/>
            <a:ext cx="297180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50474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i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más simple</a:t>
            </a:r>
            <a:endParaRPr lang="es-CL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4187952" y="1499616"/>
            <a:ext cx="3630168" cy="4133088"/>
          </a:xfrm>
          <a:prstGeom prst="roundRect">
            <a:avLst>
              <a:gd name="adj" fmla="val 2015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Shape 12"/>
          <p:cNvSpPr/>
          <p:nvPr/>
        </p:nvSpPr>
        <p:spPr>
          <a:xfrm>
            <a:off x="4242816" y="155448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3"/>
          <p:cNvSpPr/>
          <p:nvPr/>
        </p:nvSpPr>
        <p:spPr>
          <a:xfrm>
            <a:off x="4517136" y="1810512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4517136" y="1810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s-CL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5157216" y="18105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retorno preferente</a:t>
            </a:r>
            <a:endParaRPr lang="es-CL" sz="1350" noProof="0" dirty="0"/>
          </a:p>
        </p:txBody>
      </p:sp>
      <p:sp>
        <p:nvSpPr>
          <p:cNvPr id="18" name="Shape 16"/>
          <p:cNvSpPr/>
          <p:nvPr/>
        </p:nvSpPr>
        <p:spPr>
          <a:xfrm>
            <a:off x="4517136" y="2514600"/>
            <a:ext cx="297180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Text 17"/>
          <p:cNvSpPr/>
          <p:nvPr/>
        </p:nvSpPr>
        <p:spPr>
          <a:xfrm>
            <a:off x="4517136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55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 vuelta primero (preferente)</a:t>
            </a:r>
            <a:endParaRPr lang="es-CL" sz="1550" noProof="0" dirty="0"/>
          </a:p>
        </p:txBody>
      </p:sp>
      <p:sp>
        <p:nvSpPr>
          <p:cNvPr id="20" name="Text 18"/>
          <p:cNvSpPr/>
          <p:nvPr/>
        </p:nvSpPr>
        <p:spPr>
          <a:xfrm>
            <a:off x="4517136" y="315468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150" noProof="0" dirty="0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preferente sobre la caja distribuible hasta recuperar sus $400M; luego participa del 40% pro-rata. Alinea al socio con la recuperación de caja sin castigar el control operativo de la compañía.</a:t>
            </a:r>
            <a:endParaRPr lang="es-CL" sz="1150" noProof="0" dirty="0"/>
          </a:p>
        </p:txBody>
      </p:sp>
      <p:sp>
        <p:nvSpPr>
          <p:cNvPr id="21" name="Shape 19"/>
          <p:cNvSpPr/>
          <p:nvPr/>
        </p:nvSpPr>
        <p:spPr>
          <a:xfrm>
            <a:off x="4517136" y="4956048"/>
            <a:ext cx="297180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/>
          <p:cNvSpPr/>
          <p:nvPr/>
        </p:nvSpPr>
        <p:spPr>
          <a:xfrm>
            <a:off x="4517136" y="50474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i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Recomendada</a:t>
            </a:r>
            <a:endParaRPr lang="es-CL" sz="1100" noProof="0" dirty="0"/>
          </a:p>
        </p:txBody>
      </p:sp>
      <p:sp>
        <p:nvSpPr>
          <p:cNvPr id="23" name="Shape 21"/>
          <p:cNvSpPr/>
          <p:nvPr/>
        </p:nvSpPr>
        <p:spPr>
          <a:xfrm>
            <a:off x="7936992" y="155448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Shape 22"/>
          <p:cNvSpPr/>
          <p:nvPr/>
        </p:nvSpPr>
        <p:spPr>
          <a:xfrm>
            <a:off x="8211312" y="1810512"/>
            <a:ext cx="530352" cy="530352"/>
          </a:xfrm>
          <a:prstGeom prst="ellipse">
            <a:avLst/>
          </a:prstGeom>
          <a:solidFill>
            <a:srgbClr val="1626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 23"/>
          <p:cNvSpPr/>
          <p:nvPr/>
        </p:nvSpPr>
        <p:spPr>
          <a:xfrm>
            <a:off x="8211312" y="1810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s-CL" sz="2000" noProof="0" dirty="0"/>
          </a:p>
        </p:txBody>
      </p:sp>
      <p:sp>
        <p:nvSpPr>
          <p:cNvPr id="26" name="Text 24"/>
          <p:cNvSpPr/>
          <p:nvPr/>
        </p:nvSpPr>
        <p:spPr>
          <a:xfrm>
            <a:off x="8851392" y="18105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Convertible / por hitos</a:t>
            </a:r>
            <a:endParaRPr lang="es-CL" sz="1350" noProof="0" dirty="0"/>
          </a:p>
        </p:txBody>
      </p:sp>
      <p:sp>
        <p:nvSpPr>
          <p:cNvPr id="27" name="Shape 25"/>
          <p:cNvSpPr/>
          <p:nvPr/>
        </p:nvSpPr>
        <p:spPr>
          <a:xfrm>
            <a:off x="8211312" y="2514600"/>
            <a:ext cx="297180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Text 26"/>
          <p:cNvSpPr/>
          <p:nvPr/>
        </p:nvSpPr>
        <p:spPr>
          <a:xfrm>
            <a:off x="8211312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55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flexible</a:t>
            </a:r>
            <a:endParaRPr lang="es-CL" sz="1550" noProof="0" dirty="0"/>
          </a:p>
        </p:txBody>
      </p:sp>
      <p:sp>
        <p:nvSpPr>
          <p:cNvPr id="29" name="Text 27"/>
          <p:cNvSpPr/>
          <p:nvPr/>
        </p:nvSpPr>
        <p:spPr>
          <a:xfrm>
            <a:off x="8211312" y="315468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150" noProof="0" dirty="0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Préstamo convertible u opción de aumentar participación contra hitos de EBITDA. Alinea el precio con el desempeño.</a:t>
            </a:r>
            <a:endParaRPr lang="es-CL" sz="1150" noProof="0" dirty="0"/>
          </a:p>
        </p:txBody>
      </p:sp>
      <p:sp>
        <p:nvSpPr>
          <p:cNvPr id="30" name="Shape 28"/>
          <p:cNvSpPr/>
          <p:nvPr/>
        </p:nvSpPr>
        <p:spPr>
          <a:xfrm>
            <a:off x="8211312" y="4956048"/>
            <a:ext cx="297180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Text 29"/>
          <p:cNvSpPr/>
          <p:nvPr/>
        </p:nvSpPr>
        <p:spPr>
          <a:xfrm>
            <a:off x="8211312" y="50474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i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más conservador</a:t>
            </a:r>
            <a:endParaRPr lang="es-CL" sz="1100" noProof="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800" noProof="0" dirty="0" err="1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Confidencial  ·  Caso de inversión — Junio 2026</a:t>
            </a:r>
            <a:endParaRPr lang="es-CL" sz="800" noProof="0" dirty="0"/>
          </a:p>
        </p:txBody>
      </p:sp>
      <p:sp>
        <p:nvSpPr>
          <p:cNvPr id="33" name="Text 3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del socio</a:t>
            </a:r>
            <a:endParaRPr lang="es-CL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Dividendos proyectados durante el período de normalización de deuda, y estado estable replicado</a:t>
            </a:r>
            <a:endParaRPr lang="es-CL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33472" cy="1143000"/>
          </a:xfrm>
          <a:prstGeom prst="roundRect">
            <a:avLst>
              <a:gd name="adj" fmla="val 4800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5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Preferente</a:t>
            </a:r>
            <a:endParaRPr lang="es-CL" sz="25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20848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 vuelta primero</a:t>
            </a:r>
            <a:endParaRPr lang="es-CL" sz="1050" noProof="0" dirty="0"/>
          </a:p>
        </p:txBody>
      </p:sp>
      <p:sp>
        <p:nvSpPr>
          <p:cNvPr id="7" name="Shape 5"/>
          <p:cNvSpPr/>
          <p:nvPr/>
        </p:nvSpPr>
        <p:spPr>
          <a:xfrm>
            <a:off x="3355848" y="1417320"/>
            <a:ext cx="2633472" cy="1143000"/>
          </a:xfrm>
          <a:prstGeom prst="roundRect">
            <a:avLst>
              <a:gd name="adj" fmla="val 4800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/>
          <p:cNvSpPr/>
          <p:nvPr/>
        </p:nvSpPr>
        <p:spPr>
          <a:xfrm>
            <a:off x="3355848" y="1536192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5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s-CL" sz="2500" noProof="0" dirty="0"/>
          </a:p>
        </p:txBody>
      </p:sp>
      <p:sp>
        <p:nvSpPr>
          <p:cNvPr id="9" name="Text 7"/>
          <p:cNvSpPr/>
          <p:nvPr/>
        </p:nvSpPr>
        <p:spPr>
          <a:xfrm>
            <a:off x="3447288" y="20848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 err="1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Participación</a:t>
            </a:r>
            <a:r>
              <a:rPr lang="es-CL" sz="10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tras recuperar capital</a:t>
            </a:r>
            <a:endParaRPr lang="es-CL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6163056" y="1417320"/>
            <a:ext cx="2633472" cy="1143000"/>
          </a:xfrm>
          <a:prstGeom prst="roundRect">
            <a:avLst>
              <a:gd name="adj" fmla="val 4800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6163056" y="1536192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5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s-CL" sz="2500" noProof="0" dirty="0"/>
          </a:p>
        </p:txBody>
      </p:sp>
      <p:sp>
        <p:nvSpPr>
          <p:cNvPr id="12" name="Text 10"/>
          <p:cNvSpPr/>
          <p:nvPr/>
        </p:nvSpPr>
        <p:spPr>
          <a:xfrm>
            <a:off x="6254496" y="20848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 err="1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modelado</a:t>
            </a:r>
            <a:r>
              <a:rPr lang="es-CL" sz="10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(en validación)</a:t>
            </a:r>
            <a:endParaRPr lang="es-CL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8970264" y="1417320"/>
            <a:ext cx="2633472" cy="1143000"/>
          </a:xfrm>
          <a:prstGeom prst="roundRect">
            <a:avLst>
              <a:gd name="adj" fmla="val 4800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/>
          <p:nvPr/>
        </p:nvSpPr>
        <p:spPr>
          <a:xfrm>
            <a:off x="8970264" y="1536192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5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~$836M</a:t>
            </a:r>
            <a:endParaRPr lang="es-CL" sz="2500" noProof="0" dirty="0"/>
          </a:p>
        </p:txBody>
      </p:sp>
      <p:sp>
        <p:nvSpPr>
          <p:cNvPr id="15" name="Text 13"/>
          <p:cNvSpPr/>
          <p:nvPr/>
        </p:nvSpPr>
        <p:spPr>
          <a:xfrm>
            <a:off x="9061704" y="20848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del 40% a 2032 (5x, sin deuda)</a:t>
            </a:r>
            <a:endParaRPr lang="es-CL" sz="1050" noProof="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68580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822960" y="29443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DIVIDENDO ANUAL AL SOCIO — ILUSTRATIVO · MODELO EN VALIDACIÓN</a:t>
            </a:r>
            <a:endParaRPr lang="es-CL" sz="1150" noProof="0" dirty="0"/>
          </a:p>
        </p:txBody>
      </p:sp>
      <p:sp>
        <p:nvSpPr>
          <p:cNvPr id="18" name="Text 16"/>
          <p:cNvSpPr/>
          <p:nvPr/>
        </p:nvSpPr>
        <p:spPr>
          <a:xfrm>
            <a:off x="685800" y="5330952"/>
            <a:ext cx="1009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s-CL" sz="950" noProof="0" dirty="0"/>
          </a:p>
        </p:txBody>
      </p:sp>
      <p:sp>
        <p:nvSpPr>
          <p:cNvPr id="19" name="Text 17"/>
          <p:cNvSpPr/>
          <p:nvPr/>
        </p:nvSpPr>
        <p:spPr>
          <a:xfrm>
            <a:off x="685800" y="5623560"/>
            <a:ext cx="1009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s-CL" sz="950" noProof="0" dirty="0"/>
          </a:p>
        </p:txBody>
      </p:sp>
      <p:sp>
        <p:nvSpPr>
          <p:cNvPr id="20" name="Shape 18"/>
          <p:cNvSpPr/>
          <p:nvPr/>
        </p:nvSpPr>
        <p:spPr>
          <a:xfrm>
            <a:off x="1658493" y="4821946"/>
            <a:ext cx="643509" cy="75589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/>
          <p:nvPr/>
        </p:nvSpPr>
        <p:spPr>
          <a:xfrm>
            <a:off x="1475613" y="4575058"/>
            <a:ext cx="1009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s-CL" sz="950" noProof="0" dirty="0"/>
          </a:p>
        </p:txBody>
      </p:sp>
      <p:sp>
        <p:nvSpPr>
          <p:cNvPr id="22" name="Text 20"/>
          <p:cNvSpPr/>
          <p:nvPr/>
        </p:nvSpPr>
        <p:spPr>
          <a:xfrm>
            <a:off x="1475613" y="5623560"/>
            <a:ext cx="1009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s-CL" sz="950" noProof="0" dirty="0"/>
          </a:p>
        </p:txBody>
      </p:sp>
      <p:sp>
        <p:nvSpPr>
          <p:cNvPr id="23" name="Shape 21"/>
          <p:cNvSpPr/>
          <p:nvPr/>
        </p:nvSpPr>
        <p:spPr>
          <a:xfrm>
            <a:off x="2448306" y="4513871"/>
            <a:ext cx="643509" cy="1063969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Text 22"/>
          <p:cNvSpPr/>
          <p:nvPr/>
        </p:nvSpPr>
        <p:spPr>
          <a:xfrm>
            <a:off x="2265426" y="4266983"/>
            <a:ext cx="1009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s-CL" sz="950" noProof="0" dirty="0"/>
          </a:p>
        </p:txBody>
      </p:sp>
      <p:sp>
        <p:nvSpPr>
          <p:cNvPr id="25" name="Text 23"/>
          <p:cNvSpPr/>
          <p:nvPr/>
        </p:nvSpPr>
        <p:spPr>
          <a:xfrm>
            <a:off x="2265426" y="5623560"/>
            <a:ext cx="1009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s-CL" sz="950" noProof="0" dirty="0"/>
          </a:p>
        </p:txBody>
      </p:sp>
      <p:sp>
        <p:nvSpPr>
          <p:cNvPr id="26" name="Shape 24"/>
          <p:cNvSpPr/>
          <p:nvPr/>
        </p:nvSpPr>
        <p:spPr>
          <a:xfrm>
            <a:off x="3238119" y="4247085"/>
            <a:ext cx="643509" cy="133075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Text 25"/>
          <p:cNvSpPr/>
          <p:nvPr/>
        </p:nvSpPr>
        <p:spPr>
          <a:xfrm>
            <a:off x="3055239" y="4000197"/>
            <a:ext cx="1009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s-CL" sz="950" noProof="0" dirty="0"/>
          </a:p>
        </p:txBody>
      </p:sp>
      <p:sp>
        <p:nvSpPr>
          <p:cNvPr id="28" name="Text 26"/>
          <p:cNvSpPr/>
          <p:nvPr/>
        </p:nvSpPr>
        <p:spPr>
          <a:xfrm>
            <a:off x="3055239" y="5623560"/>
            <a:ext cx="1009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s-CL" sz="950" noProof="0" dirty="0"/>
          </a:p>
        </p:txBody>
      </p:sp>
      <p:sp>
        <p:nvSpPr>
          <p:cNvPr id="29" name="Shape 27"/>
          <p:cNvSpPr/>
          <p:nvPr/>
        </p:nvSpPr>
        <p:spPr>
          <a:xfrm>
            <a:off x="4027932" y="3973947"/>
            <a:ext cx="643509" cy="1603893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Text 28"/>
          <p:cNvSpPr/>
          <p:nvPr/>
        </p:nvSpPr>
        <p:spPr>
          <a:xfrm>
            <a:off x="3845052" y="3727059"/>
            <a:ext cx="1009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s-CL" sz="950" noProof="0" dirty="0"/>
          </a:p>
        </p:txBody>
      </p:sp>
      <p:sp>
        <p:nvSpPr>
          <p:cNvPr id="31" name="Text 29"/>
          <p:cNvSpPr/>
          <p:nvPr/>
        </p:nvSpPr>
        <p:spPr>
          <a:xfrm>
            <a:off x="3845052" y="5623560"/>
            <a:ext cx="1009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s-CL" sz="950" noProof="0" dirty="0"/>
          </a:p>
        </p:txBody>
      </p:sp>
      <p:sp>
        <p:nvSpPr>
          <p:cNvPr id="32" name="Shape 30"/>
          <p:cNvSpPr/>
          <p:nvPr/>
        </p:nvSpPr>
        <p:spPr>
          <a:xfrm>
            <a:off x="4817745" y="3919955"/>
            <a:ext cx="643509" cy="165788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3" name="Text 31"/>
          <p:cNvSpPr/>
          <p:nvPr/>
        </p:nvSpPr>
        <p:spPr>
          <a:xfrm>
            <a:off x="4634865" y="3673067"/>
            <a:ext cx="1009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s-CL" sz="950" noProof="0" dirty="0"/>
          </a:p>
        </p:txBody>
      </p:sp>
      <p:sp>
        <p:nvSpPr>
          <p:cNvPr id="34" name="Text 32"/>
          <p:cNvSpPr/>
          <p:nvPr/>
        </p:nvSpPr>
        <p:spPr>
          <a:xfrm>
            <a:off x="4634865" y="5623560"/>
            <a:ext cx="1009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2032</a:t>
            </a:r>
            <a:endParaRPr lang="es-CL" sz="950" noProof="0" dirty="0"/>
          </a:p>
        </p:txBody>
      </p:sp>
      <p:sp>
        <p:nvSpPr>
          <p:cNvPr id="35" name="Shape 33"/>
          <p:cNvSpPr/>
          <p:nvPr/>
        </p:nvSpPr>
        <p:spPr>
          <a:xfrm>
            <a:off x="5607558" y="3767505"/>
            <a:ext cx="643509" cy="181033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6" name="Text 34"/>
          <p:cNvSpPr/>
          <p:nvPr/>
        </p:nvSpPr>
        <p:spPr>
          <a:xfrm>
            <a:off x="5424678" y="3520617"/>
            <a:ext cx="1009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s-CL" sz="950" noProof="0" dirty="0"/>
          </a:p>
        </p:txBody>
      </p:sp>
      <p:sp>
        <p:nvSpPr>
          <p:cNvPr id="37" name="Text 35"/>
          <p:cNvSpPr/>
          <p:nvPr/>
        </p:nvSpPr>
        <p:spPr>
          <a:xfrm>
            <a:off x="5424678" y="5623560"/>
            <a:ext cx="1009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2033</a:t>
            </a:r>
            <a:endParaRPr lang="es-CL" sz="950" noProof="0" dirty="0"/>
          </a:p>
        </p:txBody>
      </p:sp>
      <p:sp>
        <p:nvSpPr>
          <p:cNvPr id="38" name="Shape 36"/>
          <p:cNvSpPr/>
          <p:nvPr/>
        </p:nvSpPr>
        <p:spPr>
          <a:xfrm>
            <a:off x="6397371" y="3611880"/>
            <a:ext cx="643509" cy="19659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9" name="Text 37"/>
          <p:cNvSpPr/>
          <p:nvPr/>
        </p:nvSpPr>
        <p:spPr>
          <a:xfrm>
            <a:off x="6214491" y="3364992"/>
            <a:ext cx="1009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s-CL" sz="950" noProof="0" dirty="0"/>
          </a:p>
        </p:txBody>
      </p:sp>
      <p:sp>
        <p:nvSpPr>
          <p:cNvPr id="40" name="Text 38"/>
          <p:cNvSpPr/>
          <p:nvPr/>
        </p:nvSpPr>
        <p:spPr>
          <a:xfrm>
            <a:off x="6214491" y="5623560"/>
            <a:ext cx="1009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2034</a:t>
            </a:r>
            <a:endParaRPr lang="es-CL" sz="950" noProof="0" dirty="0"/>
          </a:p>
        </p:txBody>
      </p:sp>
      <p:sp>
        <p:nvSpPr>
          <p:cNvPr id="41" name="Shape 39"/>
          <p:cNvSpPr/>
          <p:nvPr/>
        </p:nvSpPr>
        <p:spPr>
          <a:xfrm>
            <a:off x="868680" y="5577840"/>
            <a:ext cx="6172200" cy="0"/>
          </a:xfrm>
          <a:prstGeom prst="line">
            <a:avLst/>
          </a:prstGeom>
          <a:noFill/>
          <a:ln w="12700">
            <a:solidFill>
              <a:srgbClr val="C8CDD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2" name="Shape 40"/>
          <p:cNvSpPr/>
          <p:nvPr/>
        </p:nvSpPr>
        <p:spPr>
          <a:xfrm>
            <a:off x="7589520" y="2788920"/>
            <a:ext cx="4050792" cy="1024128"/>
          </a:xfrm>
          <a:prstGeom prst="roundRect">
            <a:avLst>
              <a:gd name="adj" fmla="val 5357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3" name="Text 41"/>
          <p:cNvSpPr/>
          <p:nvPr/>
        </p:nvSpPr>
        <p:spPr>
          <a:xfrm>
            <a:off x="7818120" y="2898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paciente</a:t>
            </a:r>
            <a:endParaRPr lang="es-CL" sz="1150" noProof="0" dirty="0"/>
          </a:p>
        </p:txBody>
      </p:sp>
      <p:sp>
        <p:nvSpPr>
          <p:cNvPr id="44" name="Text 42"/>
          <p:cNvSpPr/>
          <p:nvPr/>
        </p:nvSpPr>
        <p:spPr>
          <a:xfrm>
            <a:off x="7818120" y="317296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s-CL" sz="10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primeros años se retiene todo; el reparto del 70% arranca cuando el negocio lo aguanta.</a:t>
            </a:r>
            <a:endParaRPr lang="es-CL" sz="1050" noProof="0" dirty="0"/>
          </a:p>
        </p:txBody>
      </p:sp>
      <p:sp>
        <p:nvSpPr>
          <p:cNvPr id="45" name="Shape 43"/>
          <p:cNvSpPr/>
          <p:nvPr/>
        </p:nvSpPr>
        <p:spPr>
          <a:xfrm>
            <a:off x="7589520" y="3922776"/>
            <a:ext cx="4050792" cy="1024128"/>
          </a:xfrm>
          <a:prstGeom prst="roundRect">
            <a:avLst>
              <a:gd name="adj" fmla="val 5357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6" name="Text 44"/>
          <p:cNvSpPr/>
          <p:nvPr/>
        </p:nvSpPr>
        <p:spPr>
          <a:xfrm>
            <a:off x="7818120" y="4032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salto está en 2033</a:t>
            </a:r>
            <a:endParaRPr lang="es-CL" sz="1150" noProof="0" dirty="0"/>
          </a:p>
        </p:txBody>
      </p:sp>
      <p:sp>
        <p:nvSpPr>
          <p:cNvPr id="47" name="Text 45"/>
          <p:cNvSpPr/>
          <p:nvPr/>
        </p:nvSpPr>
        <p:spPr>
          <a:xfrm>
            <a:off x="7818120" y="43068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s-CL" sz="10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extinguir el banco se libera caja y el dividendo sube (magnitud sujeta al modelo).</a:t>
            </a:r>
            <a:endParaRPr lang="es-CL" sz="1050" noProof="0" dirty="0"/>
          </a:p>
        </p:txBody>
      </p:sp>
      <p:sp>
        <p:nvSpPr>
          <p:cNvPr id="48" name="Shape 46"/>
          <p:cNvSpPr/>
          <p:nvPr/>
        </p:nvSpPr>
        <p:spPr>
          <a:xfrm>
            <a:off x="7589520" y="5056632"/>
            <a:ext cx="4050792" cy="1024128"/>
          </a:xfrm>
          <a:prstGeom prst="roundRect">
            <a:avLst>
              <a:gd name="adj" fmla="val 5357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9" name="Text 47"/>
          <p:cNvSpPr/>
          <p:nvPr/>
        </p:nvSpPr>
        <p:spPr>
          <a:xfrm>
            <a:off x="7818120" y="5166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que el dividendo</a:t>
            </a:r>
            <a:endParaRPr lang="es-CL" sz="1150" noProof="0" dirty="0"/>
          </a:p>
        </p:txBody>
      </p:sp>
      <p:sp>
        <p:nvSpPr>
          <p:cNvPr id="50" name="Text 48"/>
          <p:cNvSpPr/>
          <p:nvPr/>
        </p:nvSpPr>
        <p:spPr>
          <a:xfrm>
            <a:off x="7818120" y="54406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s-CL" sz="10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socio participa del 40% del valor forward del negocio, no solo del flujo anual de dividendos.</a:t>
            </a:r>
            <a:endParaRPr lang="es-CL" sz="1050" noProof="0" dirty="0"/>
          </a:p>
        </p:txBody>
      </p:sp>
      <p:sp>
        <p:nvSpPr>
          <p:cNvPr id="51" name="Text 49"/>
          <p:cNvSpPr/>
          <p:nvPr/>
        </p:nvSpPr>
        <p:spPr>
          <a:xfrm>
            <a:off x="548640" y="6163056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i="1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Cifras de retorno ILUSTRATIVAS, sujetas a validación del modelo de flujo, definición de la estructura preferente y control de deuda.</a:t>
            </a:r>
            <a:endParaRPr lang="es-CL" sz="900" noProof="0" dirty="0"/>
          </a:p>
        </p:txBody>
      </p:sp>
      <p:sp>
        <p:nvSpPr>
          <p:cNvPr id="52" name="Text 5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800" noProof="0" dirty="0" err="1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Confidencial  ·  Caso de inversión — Junio 2026</a:t>
            </a:r>
            <a:endParaRPr lang="es-CL" sz="800" noProof="0" dirty="0"/>
          </a:p>
        </p:txBody>
      </p:sp>
      <p:sp>
        <p:nvSpPr>
          <p:cNvPr id="53" name="Text 5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y gobierno</a:t>
            </a:r>
            <a:endParaRPr lang="es-CL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Quiénes ejecutan — y por qué el </a:t>
            </a:r>
            <a:r>
              <a:rPr lang="es-CL" sz="1250" noProof="0" dirty="0" err="1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</a:t>
            </a:r>
            <a:r>
              <a:rPr lang="es-CL" sz="1250" noProof="0" dirty="0">
                <a:solidFill>
                  <a:srgbClr val="7A8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fue posible en 13 meses</a:t>
            </a:r>
            <a:endParaRPr lang="es-CL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9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s-CL" sz="1900" noProof="0" dirty="0"/>
          </a:p>
        </p:txBody>
      </p:sp>
      <p:sp>
        <p:nvSpPr>
          <p:cNvPr id="7" name="Text 5"/>
          <p:cNvSpPr/>
          <p:nvPr/>
        </p:nvSpPr>
        <p:spPr>
          <a:xfrm>
            <a:off x="1664208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Sanhueza S.</a:t>
            </a:r>
            <a:endParaRPr lang="es-CL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1664208" y="2121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y Finanzas</a:t>
            </a:r>
            <a:endParaRPr lang="es-CL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822960" y="2670048"/>
            <a:ext cx="297180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822960" y="2816352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s-CL" sz="1100" noProof="0" dirty="0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Gestión financiera, control y planificación. Aportó capital al inicio del </a:t>
            </a:r>
            <a:r>
              <a:rPr lang="es-CL" sz="1100" noProof="0" dirty="0" err="1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</a:t>
            </a:r>
            <a:r>
              <a:rPr lang="es-CL" sz="1100" noProof="0" dirty="0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y lidera la restructuración.</a:t>
            </a:r>
            <a:endParaRPr lang="es-CL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4242816" y="146304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10"/>
          <p:cNvSpPr/>
          <p:nvPr/>
        </p:nvSpPr>
        <p:spPr>
          <a:xfrm>
            <a:off x="4517136" y="173736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4517136" y="17373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9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JC</a:t>
            </a:r>
            <a:endParaRPr lang="es-CL" sz="1900" noProof="0" dirty="0"/>
          </a:p>
        </p:txBody>
      </p:sp>
      <p:sp>
        <p:nvSpPr>
          <p:cNvPr id="14" name="Text 12"/>
          <p:cNvSpPr/>
          <p:nvPr/>
        </p:nvSpPr>
        <p:spPr>
          <a:xfrm>
            <a:off x="5358384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Juan Carlos </a:t>
            </a:r>
            <a:r>
              <a:rPr lang="es-CL" sz="1300" b="1" noProof="0" dirty="0" err="1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Huentritripay</a:t>
            </a: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R.</a:t>
            </a:r>
            <a:endParaRPr lang="es-CL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5358384" y="2121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y Operaciones</a:t>
            </a:r>
            <a:endParaRPr lang="es-CL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4517136" y="2670048"/>
            <a:ext cx="297180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4517136" y="2816352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s-CL" sz="1100" noProof="0" dirty="0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diaria de los locales, ejecución comercial y relación con proveedores.</a:t>
            </a:r>
            <a:endParaRPr lang="es-CL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7936992" y="146304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Shape 17"/>
          <p:cNvSpPr/>
          <p:nvPr/>
        </p:nvSpPr>
        <p:spPr>
          <a:xfrm>
            <a:off x="8211312" y="173736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/>
          <p:nvPr/>
        </p:nvSpPr>
        <p:spPr>
          <a:xfrm>
            <a:off x="8211312" y="17373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9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s-CL" sz="1900" noProof="0" dirty="0"/>
          </a:p>
        </p:txBody>
      </p:sp>
      <p:sp>
        <p:nvSpPr>
          <p:cNvPr id="21" name="Text 19"/>
          <p:cNvSpPr/>
          <p:nvPr/>
        </p:nvSpPr>
        <p:spPr>
          <a:xfrm>
            <a:off x="905256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Elías Riquelme M.</a:t>
            </a:r>
            <a:endParaRPr lang="es-CL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9052560" y="2121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y Proyectos</a:t>
            </a:r>
            <a:endParaRPr lang="es-CL" sz="1100" noProof="0" dirty="0"/>
          </a:p>
        </p:txBody>
      </p:sp>
      <p:sp>
        <p:nvSpPr>
          <p:cNvPr id="23" name="Shape 21"/>
          <p:cNvSpPr/>
          <p:nvPr/>
        </p:nvSpPr>
        <p:spPr>
          <a:xfrm>
            <a:off x="8211312" y="2670048"/>
            <a:ext cx="297180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Text 22"/>
          <p:cNvSpPr/>
          <p:nvPr/>
        </p:nvSpPr>
        <p:spPr>
          <a:xfrm>
            <a:off x="8211312" y="2816352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s-CL" sz="1100" noProof="0" dirty="0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Desarrollo y evaluación de nuevas ubicaciones de OH! </a:t>
            </a:r>
            <a:r>
              <a:rPr lang="es-CL" sz="1100" noProof="0" dirty="0" err="1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1100" noProof="0" dirty="0">
                <a:solidFill>
                  <a:srgbClr val="3A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s-CL" sz="1100" noProof="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16263F"/>
          </a:solidFill>
          <a:ln w="12700">
            <a:solidFill>
              <a:srgbClr val="E3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4"/>
          <p:cNvSpPr/>
          <p:nvPr/>
        </p:nvSpPr>
        <p:spPr>
          <a:xfrm>
            <a:off x="868680" y="4754880"/>
            <a:ext cx="10451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colaboradores</a:t>
            </a:r>
            <a:r>
              <a:rPr lang="es-CL" sz="12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equipo estable; previsional/laboral al día y deuda tributaria abordada vía convenio TGR (en prepago)</a:t>
            </a:r>
            <a:endParaRPr lang="es-CL" sz="1700" noProof="0" dirty="0"/>
          </a:p>
        </p:txBody>
      </p:sp>
      <p:sp>
        <p:nvSpPr>
          <p:cNvPr id="27" name="Text 25"/>
          <p:cNvSpPr/>
          <p:nvPr/>
        </p:nvSpPr>
        <p:spPr>
          <a:xfrm>
            <a:off x="868680" y="5175504"/>
            <a:ext cx="10451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s-CL" sz="110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Modelo de gestión inusual para el tamaño: ERP </a:t>
            </a:r>
            <a:r>
              <a:rPr lang="es-CL" sz="1100" noProof="0" dirty="0" err="1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Odoo</a:t>
            </a:r>
            <a:r>
              <a:rPr lang="es-CL" sz="110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17 </a:t>
            </a:r>
            <a:r>
              <a:rPr lang="es-CL" sz="1100" noProof="0" dirty="0" err="1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multi-sucursal</a:t>
            </a:r>
            <a:r>
              <a:rPr lang="es-CL" sz="110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, presupuesto por local, control por centro de costo, reposición planificada, ABC/XYZ y reportería de margen por SKU/local. Permite operar con menor estructura administrativa y preparar crecimiento sin repetir la </a:t>
            </a:r>
            <a:r>
              <a:rPr lang="es-CL" sz="1100" noProof="0" dirty="0" err="1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sobreestructura</a:t>
            </a:r>
            <a:r>
              <a:rPr lang="es-CL" sz="110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anterior.</a:t>
            </a:r>
            <a:endParaRPr lang="es-CL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 </a:t>
            </a:r>
            <a:r>
              <a:rPr lang="es-CL" sz="800" noProof="0" dirty="0" err="1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Confidencial  ·  Caso de inversión — Junio 2026</a:t>
            </a:r>
            <a:endParaRPr lang="es-CL" sz="800" noProof="0" dirty="0"/>
          </a:p>
        </p:txBody>
      </p:sp>
      <p:sp>
        <p:nvSpPr>
          <p:cNvPr id="29" name="Text 27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800" noProof="0" dirty="0">
                <a:solidFill>
                  <a:srgbClr val="9AA2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AHORA, POR QUÉ ESTE NEGOCIO</a:t>
            </a:r>
            <a:endParaRPr lang="es-CL" sz="1200" noProof="0" dirty="0"/>
          </a:p>
        </p:txBody>
      </p:sp>
      <p:pic>
        <p:nvPicPr>
          <p:cNvPr id="3" name="Image 0" descr="/home/claude/oh_logo_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36" y="338328"/>
            <a:ext cx="1289304" cy="12893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241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recuperación ejecutada, lista para escalar</a:t>
            </a:r>
            <a:endParaRPr lang="es-CL" sz="2800" noProof="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20335A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3"/>
          <p:cNvSpPr/>
          <p:nvPr/>
        </p:nvSpPr>
        <p:spPr>
          <a:xfrm>
            <a:off x="822960" y="21762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4"/>
          <p:cNvSpPr/>
          <p:nvPr/>
        </p:nvSpPr>
        <p:spPr>
          <a:xfrm>
            <a:off x="82296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CL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CL" sz="135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</a:t>
            </a:r>
            <a:r>
              <a:rPr lang="es-CL" sz="13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consolidado, no proyectado</a:t>
            </a:r>
            <a:endParaRPr lang="es-CL" sz="1350" noProof="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CL" sz="10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2026 ya muestra utilidad neta. El ajuste fuerte —cierres, finiquitos, ordenamiento y normalización— ya fue absorbido en gran parte. El capital financia consolidación y crecimiento, no rescate.</a:t>
            </a:r>
            <a:endParaRPr lang="es-CL" sz="1050" noProof="0" dirty="0"/>
          </a:p>
        </p:txBody>
      </p:sp>
      <p:sp>
        <p:nvSpPr>
          <p:cNvPr id="10" name="Shape 7"/>
          <p:cNvSpPr/>
          <p:nvPr/>
        </p:nvSpPr>
        <p:spPr>
          <a:xfrm>
            <a:off x="4242816" y="192024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20335A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Shape 8"/>
          <p:cNvSpPr/>
          <p:nvPr/>
        </p:nvSpPr>
        <p:spPr>
          <a:xfrm>
            <a:off x="4517136" y="21762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9"/>
          <p:cNvSpPr/>
          <p:nvPr/>
        </p:nvSpPr>
        <p:spPr>
          <a:xfrm>
            <a:off x="4517136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s-CL" sz="1600" noProof="0" dirty="0"/>
          </a:p>
        </p:txBody>
      </p:sp>
      <p:sp>
        <p:nvSpPr>
          <p:cNvPr id="13" name="Text 10"/>
          <p:cNvSpPr/>
          <p:nvPr/>
        </p:nvSpPr>
        <p:spPr>
          <a:xfrm>
            <a:off x="4517136" y="27889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CL" sz="13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antes de temporada alta</a:t>
            </a:r>
            <a:endParaRPr lang="es-CL" sz="1350" noProof="0" dirty="0"/>
          </a:p>
        </p:txBody>
      </p:sp>
      <p:sp>
        <p:nvSpPr>
          <p:cNvPr id="14" name="Text 11"/>
          <p:cNvSpPr/>
          <p:nvPr/>
        </p:nvSpPr>
        <p:spPr>
          <a:xfrm>
            <a:off x="4517136" y="33375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CL" sz="10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ordenamiento se ejecuta antes de Q4 2026 para entrar a Dic–Mar optimizados.</a:t>
            </a:r>
            <a:endParaRPr lang="es-CL" sz="1050" noProof="0" dirty="0"/>
          </a:p>
        </p:txBody>
      </p:sp>
      <p:sp>
        <p:nvSpPr>
          <p:cNvPr id="15" name="Shape 12"/>
          <p:cNvSpPr/>
          <p:nvPr/>
        </p:nvSpPr>
        <p:spPr>
          <a:xfrm>
            <a:off x="7936992" y="192024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20335A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Shape 13"/>
          <p:cNvSpPr/>
          <p:nvPr/>
        </p:nvSpPr>
        <p:spPr>
          <a:xfrm>
            <a:off x="8211312" y="21762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4"/>
          <p:cNvSpPr/>
          <p:nvPr/>
        </p:nvSpPr>
        <p:spPr>
          <a:xfrm>
            <a:off x="821131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16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s-CL" sz="1600" noProof="0" dirty="0"/>
          </a:p>
        </p:txBody>
      </p:sp>
      <p:sp>
        <p:nvSpPr>
          <p:cNvPr id="18" name="Text 15"/>
          <p:cNvSpPr/>
          <p:nvPr/>
        </p:nvSpPr>
        <p:spPr>
          <a:xfrm>
            <a:off x="8211312" y="27889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CL" sz="13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bien usado, retorno medible</a:t>
            </a:r>
            <a:endParaRPr lang="es-CL" sz="1350" noProof="0" dirty="0"/>
          </a:p>
        </p:txBody>
      </p:sp>
      <p:sp>
        <p:nvSpPr>
          <p:cNvPr id="19" name="Text 16"/>
          <p:cNvSpPr/>
          <p:nvPr/>
        </p:nvSpPr>
        <p:spPr>
          <a:xfrm>
            <a:off x="8211312" y="33375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CL" sz="105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capital compra inventario rentable, estabilidad de caja y margen operativo — retorno modelado, palancas validadas en datos.</a:t>
            </a:r>
            <a:endParaRPr lang="es-CL" sz="1050" noProof="0" dirty="0"/>
          </a:p>
        </p:txBody>
      </p:sp>
      <p:sp>
        <p:nvSpPr>
          <p:cNvPr id="20" name="Shape 17"/>
          <p:cNvSpPr/>
          <p:nvPr/>
        </p:nvSpPr>
        <p:spPr>
          <a:xfrm>
            <a:off x="548640" y="452628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20335A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8"/>
          <p:cNvSpPr/>
          <p:nvPr/>
        </p:nvSpPr>
        <p:spPr>
          <a:xfrm>
            <a:off x="868680" y="4681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kern="0" spc="100" noProof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DISPONIBLE BAJO SOLICITUD</a:t>
            </a:r>
            <a:endParaRPr lang="es-CL" sz="1100" noProof="0" dirty="0"/>
          </a:p>
        </p:txBody>
      </p:sp>
      <p:sp>
        <p:nvSpPr>
          <p:cNvPr id="22" name="Text 19"/>
          <p:cNvSpPr/>
          <p:nvPr/>
        </p:nvSpPr>
        <p:spPr>
          <a:xfrm>
            <a:off x="868680" y="50292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s-CL" sz="110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tributarios 2024–T1 2026</a:t>
            </a:r>
            <a:endParaRPr lang="es-CL" sz="1100" noProof="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s-CL" sz="110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EERR mensual desagregado</a:t>
            </a:r>
            <a:endParaRPr lang="es-CL" sz="1100" noProof="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s-CL" sz="110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deuda por institución</a:t>
            </a:r>
            <a:endParaRPr lang="es-CL" sz="1100" noProof="0" dirty="0"/>
          </a:p>
        </p:txBody>
      </p:sp>
      <p:sp>
        <p:nvSpPr>
          <p:cNvPr id="23" name="Text 20"/>
          <p:cNvSpPr/>
          <p:nvPr/>
        </p:nvSpPr>
        <p:spPr>
          <a:xfrm>
            <a:off x="6400800" y="50292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s-CL" sz="110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caja proyectado mensual</a:t>
            </a:r>
            <a:endParaRPr lang="es-CL" sz="1100" noProof="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s-CL" sz="110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 por sucursal (</a:t>
            </a:r>
            <a:r>
              <a:rPr lang="es-CL" sz="1100" noProof="0" dirty="0" err="1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Odoo</a:t>
            </a:r>
            <a:r>
              <a:rPr lang="es-CL" sz="110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17)</a:t>
            </a:r>
            <a:endParaRPr lang="es-CL" sz="1100" noProof="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s-CL" sz="1100" noProof="0" dirty="0">
                <a:solidFill>
                  <a:srgbClr val="D6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retorno del socio</a:t>
            </a:r>
            <a:endParaRPr lang="es-CL" sz="1100" noProof="0" dirty="0"/>
          </a:p>
        </p:txBody>
      </p:sp>
      <p:sp>
        <p:nvSpPr>
          <p:cNvPr id="24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7E8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OH! </a:t>
            </a:r>
            <a:r>
              <a:rPr lang="es-CL" sz="1000" noProof="0" dirty="0" err="1">
                <a:solidFill>
                  <a:srgbClr val="7E8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r>
              <a:rPr lang="es-CL" sz="1000" noProof="0" dirty="0">
                <a:solidFill>
                  <a:srgbClr val="7E8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Limitada · RUT 76.765.865-6</a:t>
            </a:r>
            <a:endParaRPr lang="es-CL" sz="10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2511</Words>
  <Application>Microsoft Office PowerPoint</Application>
  <PresentationFormat>Panorámica</PresentationFormat>
  <Paragraphs>411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 Market - Caso de Inversion</dc:title>
  <dc:subject>PptxGenJS Presentation</dc:subject>
  <dc:creator>OH Market</dc:creator>
  <cp:lastModifiedBy>Marco Sanhueza Sayago</cp:lastModifiedBy>
  <cp:revision>4</cp:revision>
  <dcterms:created xsi:type="dcterms:W3CDTF">2026-06-16T01:02:16Z</dcterms:created>
  <dcterms:modified xsi:type="dcterms:W3CDTF">2026-06-16T16:51:54Z</dcterms:modified>
</cp:coreProperties>
</file>